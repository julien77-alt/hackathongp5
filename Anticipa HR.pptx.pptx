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5"/>
  </p:notes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Libre Baskerville" charset="1" panose="02000000000000000000"/>
      <p:regular r:id="rId18"/>
    </p:embeddedFont>
    <p:embeddedFont>
      <p:font typeface="Open Sans" charset="1" panose="00000000000000000000"/>
      <p:regular r:id="rId19"/>
    </p:embeddedFont>
    <p:embeddedFont>
      <p:font typeface="Open Sans Bold" charset="1" panose="00000000000000000000"/>
      <p:regular r:id="rId20"/>
    </p:embeddedFont>
    <p:embeddedFont>
      <p:font typeface="Open Sans Italics" charset="1" panose="000000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notesMasters/notesMaster1.xml" Type="http://schemas.openxmlformats.org/officeDocument/2006/relationships/notesMaster"/><Relationship Id="rId16" Target="theme/theme2.xml" Type="http://schemas.openxmlformats.org/officeDocument/2006/relationships/theme"/><Relationship Id="rId17" Target="notesSlides/notesSlide1.xml" Type="http://schemas.openxmlformats.org/officeDocument/2006/relationships/note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notesSlides/notesSlide3.xml" Type="http://schemas.openxmlformats.org/officeDocument/2006/relationships/notesSlide"/><Relationship Id="rId23" Target="notesSlides/notesSlide4.xml" Type="http://schemas.openxmlformats.org/officeDocument/2006/relationships/notesSlide"/><Relationship Id="rId24" Target="notesSlides/notesSlide5.xml" Type="http://schemas.openxmlformats.org/officeDocument/2006/relationships/notesSlide"/><Relationship Id="rId25" Target="fonts/font25.fntdata" Type="http://schemas.openxmlformats.org/officeDocument/2006/relationships/font"/><Relationship Id="rId26" Target="notesSlides/notesSlide6.xml" Type="http://schemas.openxmlformats.org/officeDocument/2006/relationships/notesSlide"/><Relationship Id="rId27" Target="notesSlides/notesSlide7.xml" Type="http://schemas.openxmlformats.org/officeDocument/2006/relationships/notesSlide"/><Relationship Id="rId28" Target="notesSlides/notesSlide8.xml" Type="http://schemas.openxmlformats.org/officeDocument/2006/relationships/notesSlide"/><Relationship Id="rId29" Target="notesSlides/notesSlide9.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png" Type="http://schemas.openxmlformats.org/officeDocument/2006/relationships/image"/><Relationship Id="rId4"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https://gamma.app/?utm_source=made-with-gamma" TargetMode="External" Type="http://schemas.openxmlformats.org/officeDocument/2006/relationships/hyperlink"/><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7.png" Type="http://schemas.openxmlformats.org/officeDocument/2006/relationships/image"/><Relationship Id="rId4"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https://gamma.app/?utm_source=made-with-gamma" TargetMode="External" Type="http://schemas.openxmlformats.org/officeDocument/2006/relationships/hyperlink"/><Relationship Id="rId4" Target="../media/image4.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 Id="rId8"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9.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sp>
        <p:nvSpPr>
          <p:cNvPr name="TextBox 6" id="6"/>
          <p:cNvSpPr txBox="true"/>
          <p:nvPr/>
        </p:nvSpPr>
        <p:spPr>
          <a:xfrm rot="0">
            <a:off x="7850238" y="3392538"/>
            <a:ext cx="5484688" cy="871537"/>
          </a:xfrm>
          <a:prstGeom prst="rect">
            <a:avLst/>
          </a:prstGeom>
        </p:spPr>
        <p:txBody>
          <a:bodyPr anchor="t" rtlCol="false" tIns="0" lIns="0" bIns="0" rIns="0">
            <a:spAutoFit/>
          </a:bodyPr>
          <a:lstStyle/>
          <a:p>
            <a:pPr algn="l">
              <a:lnSpc>
                <a:spcPts val="6937"/>
              </a:lnSpc>
            </a:pPr>
            <a:r>
              <a:rPr lang="en-US" sz="5562">
                <a:solidFill>
                  <a:srgbClr val="403CCF"/>
                </a:solidFill>
                <a:latin typeface="Libre Baskerville"/>
                <a:ea typeface="Libre Baskerville"/>
                <a:cs typeface="Libre Baskerville"/>
                <a:sym typeface="Libre Baskerville"/>
              </a:rPr>
              <a:t>HR Anticipa AI</a:t>
            </a:r>
          </a:p>
        </p:txBody>
      </p:sp>
      <p:sp>
        <p:nvSpPr>
          <p:cNvPr name="TextBox 7" id="7"/>
          <p:cNvSpPr txBox="true"/>
          <p:nvPr/>
        </p:nvSpPr>
        <p:spPr>
          <a:xfrm rot="0">
            <a:off x="7850238" y="4646562"/>
            <a:ext cx="9445523" cy="539353"/>
          </a:xfrm>
          <a:prstGeom prst="rect">
            <a:avLst/>
          </a:prstGeom>
        </p:spPr>
        <p:txBody>
          <a:bodyPr anchor="t" rtlCol="false" tIns="0" lIns="0" bIns="0" rIns="0">
            <a:spAutoFit/>
          </a:bodyPr>
          <a:lstStyle/>
          <a:p>
            <a:pPr algn="l">
              <a:lnSpc>
                <a:spcPts val="3562"/>
              </a:lnSpc>
            </a:pPr>
            <a:r>
              <a:rPr lang="en-US" sz="2187">
                <a:solidFill>
                  <a:srgbClr val="49495A"/>
                </a:solidFill>
                <a:latin typeface="Open Sans"/>
                <a:ea typeface="Open Sans"/>
                <a:cs typeface="Open Sans"/>
                <a:sym typeface="Open Sans"/>
              </a:rPr>
              <a:t>Retaining Talent through Transparent &amp; Equitable AI</a:t>
            </a:r>
          </a:p>
        </p:txBody>
      </p:sp>
      <p:sp>
        <p:nvSpPr>
          <p:cNvPr name="TextBox 8" id="8"/>
          <p:cNvSpPr txBox="true"/>
          <p:nvPr/>
        </p:nvSpPr>
        <p:spPr>
          <a:xfrm rot="0">
            <a:off x="7850238" y="5419134"/>
            <a:ext cx="9445523" cy="1446609"/>
          </a:xfrm>
          <a:prstGeom prst="rect">
            <a:avLst/>
          </a:prstGeom>
        </p:spPr>
        <p:txBody>
          <a:bodyPr anchor="t" rtlCol="false" tIns="0" lIns="0" bIns="0" rIns="0">
            <a:spAutoFit/>
          </a:bodyPr>
          <a:lstStyle/>
          <a:p>
            <a:pPr algn="l">
              <a:lnSpc>
                <a:spcPts val="3562"/>
              </a:lnSpc>
            </a:pPr>
            <a:r>
              <a:rPr lang="en-US" sz="2187">
                <a:solidFill>
                  <a:srgbClr val="49495A"/>
                </a:solidFill>
                <a:latin typeface="Open Sans"/>
                <a:ea typeface="Open Sans"/>
                <a:cs typeface="Open Sans"/>
                <a:sym typeface="Open Sans"/>
              </a:rPr>
              <a:t>Turning the "Black Box" of turnover into a "Glass Box" for HR managers—illuminating the path to employee retention with ethical, explainable artificial intelligence.</a:t>
            </a:r>
          </a:p>
        </p:txBody>
      </p:sp>
      <p:sp>
        <p:nvSpPr>
          <p:cNvPr name="TextBox 9" id="9"/>
          <p:cNvSpPr txBox="true"/>
          <p:nvPr/>
        </p:nvSpPr>
        <p:spPr>
          <a:xfrm rot="0">
            <a:off x="7850238" y="8647779"/>
            <a:ext cx="13715638" cy="608162"/>
          </a:xfrm>
          <a:prstGeom prst="rect">
            <a:avLst/>
          </a:prstGeom>
        </p:spPr>
        <p:txBody>
          <a:bodyPr anchor="t" rtlCol="false" tIns="0" lIns="0" bIns="0" rIns="0">
            <a:spAutoFit/>
          </a:bodyPr>
          <a:lstStyle/>
          <a:p>
            <a:pPr algn="l">
              <a:lnSpc>
                <a:spcPts val="5173"/>
              </a:lnSpc>
            </a:pPr>
            <a:r>
              <a:rPr lang="en-US" sz="3176" b="true">
                <a:solidFill>
                  <a:srgbClr val="49495A"/>
                </a:solidFill>
                <a:latin typeface="Open Sans Bold"/>
                <a:ea typeface="Open Sans Bold"/>
                <a:cs typeface="Open Sans Bold"/>
                <a:sym typeface="Open Sans Bold"/>
              </a:rPr>
              <a:t>Group 5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sp>
        <p:nvSpPr>
          <p:cNvPr name="TextBox 6" id="6"/>
          <p:cNvSpPr txBox="true"/>
          <p:nvPr/>
        </p:nvSpPr>
        <p:spPr>
          <a:xfrm rot="0">
            <a:off x="992238" y="1234831"/>
            <a:ext cx="7088238" cy="914552"/>
          </a:xfrm>
          <a:prstGeom prst="rect">
            <a:avLst/>
          </a:prstGeom>
        </p:spPr>
        <p:txBody>
          <a:bodyPr anchor="t" rtlCol="false" tIns="0" lIns="0" bIns="0" rIns="0">
            <a:spAutoFit/>
          </a:bodyPr>
          <a:lstStyle/>
          <a:p>
            <a:pPr algn="l">
              <a:lnSpc>
                <a:spcPts val="6937"/>
              </a:lnSpc>
            </a:pPr>
            <a:r>
              <a:rPr lang="en-US" sz="5562">
                <a:solidFill>
                  <a:srgbClr val="403CCF"/>
                </a:solidFill>
                <a:latin typeface="Libre Baskerville"/>
                <a:ea typeface="Libre Baskerville"/>
                <a:cs typeface="Libre Baskerville"/>
                <a:sym typeface="Libre Baskerville"/>
              </a:rPr>
              <a:t>The Challenge</a:t>
            </a:r>
          </a:p>
        </p:txBody>
      </p:sp>
      <p:sp>
        <p:nvSpPr>
          <p:cNvPr name="TextBox 7" id="7"/>
          <p:cNvSpPr txBox="true"/>
          <p:nvPr/>
        </p:nvSpPr>
        <p:spPr>
          <a:xfrm rot="0">
            <a:off x="992238" y="2852585"/>
            <a:ext cx="5256457" cy="1082278"/>
          </a:xfrm>
          <a:prstGeom prst="rect">
            <a:avLst/>
          </a:prstGeom>
        </p:spPr>
        <p:txBody>
          <a:bodyPr anchor="t" rtlCol="false" tIns="0" lIns="0" bIns="0" rIns="0">
            <a:spAutoFit/>
          </a:bodyPr>
          <a:lstStyle/>
          <a:p>
            <a:pPr algn="l">
              <a:lnSpc>
                <a:spcPts val="4125"/>
              </a:lnSpc>
            </a:pPr>
            <a:r>
              <a:rPr lang="en-US" sz="3312">
                <a:solidFill>
                  <a:srgbClr val="403CCF"/>
                </a:solidFill>
                <a:latin typeface="Libre Baskerville"/>
                <a:ea typeface="Libre Baskerville"/>
                <a:cs typeface="Libre Baskerville"/>
                <a:sym typeface="Libre Baskerville"/>
              </a:rPr>
              <a:t>What Keeps HR Leaders Awake</a:t>
            </a:r>
          </a:p>
        </p:txBody>
      </p:sp>
      <p:sp>
        <p:nvSpPr>
          <p:cNvPr name="TextBox 8" id="8"/>
          <p:cNvSpPr txBox="true"/>
          <p:nvPr/>
        </p:nvSpPr>
        <p:spPr>
          <a:xfrm rot="0">
            <a:off x="992238" y="4132659"/>
            <a:ext cx="5256457" cy="4622006"/>
          </a:xfrm>
          <a:prstGeom prst="rect">
            <a:avLst/>
          </a:prstGeom>
        </p:spPr>
        <p:txBody>
          <a:bodyPr anchor="t" rtlCol="false" tIns="0" lIns="0" bIns="0" rIns="0">
            <a:spAutoFit/>
          </a:bodyPr>
          <a:lstStyle/>
          <a:p>
            <a:pPr algn="l">
              <a:lnSpc>
                <a:spcPts val="3562"/>
              </a:lnSpc>
            </a:pPr>
            <a:r>
              <a:rPr lang="en-US" sz="2187">
                <a:solidFill>
                  <a:srgbClr val="49495A"/>
                </a:solidFill>
                <a:latin typeface="Open Sans"/>
                <a:ea typeface="Open Sans"/>
                <a:cs typeface="Open Sans"/>
                <a:sym typeface="Open Sans"/>
              </a:rPr>
              <a:t>Rising resignation rates are draining resources—recruitment costs soar whilst invaluable institutional knowledge walks out the door. Sarah, our HR Director persona, faces mounting pressure to predict attrition before it happens. But she needs more than a list of names; she needs </a:t>
            </a:r>
            <a:r>
              <a:rPr lang="en-US" sz="2187">
                <a:solidFill>
                  <a:srgbClr val="403CCF"/>
                </a:solidFill>
                <a:latin typeface="Open Sans"/>
                <a:ea typeface="Open Sans"/>
                <a:cs typeface="Open Sans"/>
                <a:sym typeface="Open Sans"/>
              </a:rPr>
              <a:t>actionable insights she can trust</a:t>
            </a:r>
            <a:r>
              <a:rPr lang="en-US" sz="2187">
                <a:solidFill>
                  <a:srgbClr val="49495A"/>
                </a:solidFill>
                <a:latin typeface="Open Sans"/>
                <a:ea typeface="Open Sans"/>
                <a:cs typeface="Open Sans"/>
                <a:sym typeface="Open Sans"/>
              </a:rPr>
              <a:t> and defend ethically.</a:t>
            </a:r>
          </a:p>
        </p:txBody>
      </p:sp>
      <p:grpSp>
        <p:nvGrpSpPr>
          <p:cNvPr name="Group 9" id="9"/>
          <p:cNvGrpSpPr/>
          <p:nvPr/>
        </p:nvGrpSpPr>
        <p:grpSpPr>
          <a:xfrm rot="0">
            <a:off x="6949973" y="2893514"/>
            <a:ext cx="10355161" cy="5810993"/>
            <a:chOff x="0" y="0"/>
            <a:chExt cx="13806881" cy="7747991"/>
          </a:xfrm>
        </p:grpSpPr>
        <p:sp>
          <p:nvSpPr>
            <p:cNvPr name="Freeform 10" id="10" descr="preencoded.png"/>
            <p:cNvSpPr/>
            <p:nvPr/>
          </p:nvSpPr>
          <p:spPr>
            <a:xfrm flipH="false" flipV="false" rot="0">
              <a:off x="0" y="0"/>
              <a:ext cx="13806932" cy="7748016"/>
            </a:xfrm>
            <a:custGeom>
              <a:avLst/>
              <a:gdLst/>
              <a:ahLst/>
              <a:cxnLst/>
              <a:rect r="r" b="b" t="t" l="l"/>
              <a:pathLst>
                <a:path h="7748016" w="13806932">
                  <a:moveTo>
                    <a:pt x="0" y="0"/>
                  </a:moveTo>
                  <a:lnTo>
                    <a:pt x="13806932" y="0"/>
                  </a:lnTo>
                  <a:lnTo>
                    <a:pt x="13806932" y="7748016"/>
                  </a:lnTo>
                  <a:lnTo>
                    <a:pt x="0" y="7748016"/>
                  </a:lnTo>
                  <a:lnTo>
                    <a:pt x="0" y="0"/>
                  </a:lnTo>
                  <a:close/>
                </a:path>
              </a:pathLst>
            </a:custGeom>
            <a:blipFill>
              <a:blip r:embed="rId3"/>
              <a:stretch>
                <a:fillRect l="0" t="0" r="0"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sp>
        <p:nvSpPr>
          <p:cNvPr name="TextBox 6" id="6"/>
          <p:cNvSpPr txBox="true"/>
          <p:nvPr/>
        </p:nvSpPr>
        <p:spPr>
          <a:xfrm rot="0">
            <a:off x="992238" y="1238993"/>
            <a:ext cx="11541623" cy="914552"/>
          </a:xfrm>
          <a:prstGeom prst="rect">
            <a:avLst/>
          </a:prstGeom>
        </p:spPr>
        <p:txBody>
          <a:bodyPr anchor="t" rtlCol="false" tIns="0" lIns="0" bIns="0" rIns="0">
            <a:spAutoFit/>
          </a:bodyPr>
          <a:lstStyle/>
          <a:p>
            <a:pPr algn="l">
              <a:lnSpc>
                <a:spcPts val="6937"/>
              </a:lnSpc>
            </a:pPr>
            <a:r>
              <a:rPr lang="en-US" sz="5562">
                <a:solidFill>
                  <a:srgbClr val="403CCF"/>
                </a:solidFill>
                <a:latin typeface="Libre Baskerville"/>
                <a:ea typeface="Libre Baskerville"/>
                <a:cs typeface="Libre Baskerville"/>
                <a:sym typeface="Libre Baskerville"/>
              </a:rPr>
              <a:t>Our Solution: Technology Stack</a:t>
            </a:r>
          </a:p>
        </p:txBody>
      </p:sp>
      <p:sp>
        <p:nvSpPr>
          <p:cNvPr name="TextBox 7" id="7"/>
          <p:cNvSpPr txBox="true"/>
          <p:nvPr/>
        </p:nvSpPr>
        <p:spPr>
          <a:xfrm rot="0">
            <a:off x="992238" y="2634853"/>
            <a:ext cx="283521" cy="440084"/>
          </a:xfrm>
          <a:prstGeom prst="rect">
            <a:avLst/>
          </a:prstGeom>
        </p:spPr>
        <p:txBody>
          <a:bodyPr anchor="t" rtlCol="false" tIns="0" lIns="0" bIns="0" rIns="0">
            <a:spAutoFit/>
          </a:bodyPr>
          <a:lstStyle/>
          <a:p>
            <a:pPr algn="l">
              <a:lnSpc>
                <a:spcPts val="3562"/>
              </a:lnSpc>
            </a:pPr>
            <a:r>
              <a:rPr lang="en-US" sz="2187">
                <a:solidFill>
                  <a:srgbClr val="49495A"/>
                </a:solidFill>
                <a:latin typeface="Libre Baskerville"/>
                <a:ea typeface="Libre Baskerville"/>
                <a:cs typeface="Libre Baskerville"/>
                <a:sym typeface="Libre Baskerville"/>
              </a:rPr>
              <a:t>01</a:t>
            </a:r>
          </a:p>
        </p:txBody>
      </p:sp>
      <p:grpSp>
        <p:nvGrpSpPr>
          <p:cNvPr name="Group 8" id="8"/>
          <p:cNvGrpSpPr/>
          <p:nvPr/>
        </p:nvGrpSpPr>
        <p:grpSpPr>
          <a:xfrm rot="0">
            <a:off x="992238" y="3164386"/>
            <a:ext cx="8009934" cy="38100"/>
            <a:chOff x="0" y="0"/>
            <a:chExt cx="10679913" cy="50800"/>
          </a:xfrm>
        </p:grpSpPr>
        <p:sp>
          <p:nvSpPr>
            <p:cNvPr name="Freeform 9" id="9" descr="preencoded.png"/>
            <p:cNvSpPr/>
            <p:nvPr/>
          </p:nvSpPr>
          <p:spPr>
            <a:xfrm flipH="false" flipV="false" rot="0">
              <a:off x="0" y="0"/>
              <a:ext cx="10679938" cy="50800"/>
            </a:xfrm>
            <a:custGeom>
              <a:avLst/>
              <a:gdLst/>
              <a:ahLst/>
              <a:cxnLst/>
              <a:rect r="r" b="b" t="t" l="l"/>
              <a:pathLst>
                <a:path h="50800" w="10679938">
                  <a:moveTo>
                    <a:pt x="0" y="0"/>
                  </a:moveTo>
                  <a:lnTo>
                    <a:pt x="10679938" y="0"/>
                  </a:lnTo>
                  <a:lnTo>
                    <a:pt x="10679938" y="50800"/>
                  </a:lnTo>
                  <a:lnTo>
                    <a:pt x="0" y="50800"/>
                  </a:lnTo>
                  <a:lnTo>
                    <a:pt x="0" y="0"/>
                  </a:lnTo>
                  <a:close/>
                </a:path>
              </a:pathLst>
            </a:custGeom>
            <a:blipFill>
              <a:blip r:embed="rId3"/>
              <a:stretch>
                <a:fillRect l="-3" t="0" r="-3" b="0"/>
              </a:stretch>
            </a:blipFill>
          </p:spPr>
        </p:sp>
      </p:grpSp>
      <p:sp>
        <p:nvSpPr>
          <p:cNvPr name="TextBox 10" id="10"/>
          <p:cNvSpPr txBox="true"/>
          <p:nvPr/>
        </p:nvSpPr>
        <p:spPr>
          <a:xfrm rot="0">
            <a:off x="992238" y="3363220"/>
            <a:ext cx="5314655" cy="461962"/>
          </a:xfrm>
          <a:prstGeom prst="rect">
            <a:avLst/>
          </a:prstGeom>
        </p:spPr>
        <p:txBody>
          <a:bodyPr anchor="t" rtlCol="false" tIns="0" lIns="0" bIns="0" rIns="0">
            <a:spAutoFit/>
          </a:bodyPr>
          <a:lstStyle/>
          <a:p>
            <a:pPr algn="l">
              <a:lnSpc>
                <a:spcPts val="3437"/>
              </a:lnSpc>
            </a:pPr>
            <a:r>
              <a:rPr lang="en-US" sz="2750">
                <a:solidFill>
                  <a:srgbClr val="49495A"/>
                </a:solidFill>
                <a:latin typeface="Libre Baskerville"/>
                <a:ea typeface="Libre Baskerville"/>
                <a:cs typeface="Libre Baskerville"/>
                <a:sym typeface="Libre Baskerville"/>
              </a:rPr>
              <a:t>GDPR-Cleaned Data Pipeline</a:t>
            </a:r>
          </a:p>
        </p:txBody>
      </p:sp>
      <p:sp>
        <p:nvSpPr>
          <p:cNvPr name="TextBox 11" id="11"/>
          <p:cNvSpPr txBox="true"/>
          <p:nvPr/>
        </p:nvSpPr>
        <p:spPr>
          <a:xfrm rot="0">
            <a:off x="992238" y="3909565"/>
            <a:ext cx="8009934" cy="992981"/>
          </a:xfrm>
          <a:prstGeom prst="rect">
            <a:avLst/>
          </a:prstGeom>
        </p:spPr>
        <p:txBody>
          <a:bodyPr anchor="t" rtlCol="false" tIns="0" lIns="0" bIns="0" rIns="0">
            <a:spAutoFit/>
          </a:bodyPr>
          <a:lstStyle/>
          <a:p>
            <a:pPr algn="l">
              <a:lnSpc>
                <a:spcPts val="3562"/>
              </a:lnSpc>
            </a:pPr>
            <a:r>
              <a:rPr lang="en-US" sz="2187">
                <a:solidFill>
                  <a:srgbClr val="49495A"/>
                </a:solidFill>
                <a:latin typeface="Open Sans"/>
                <a:ea typeface="Open Sans"/>
                <a:cs typeface="Open Sans"/>
                <a:sym typeface="Open Sans"/>
              </a:rPr>
              <a:t>Privacy-by-design approach with anonymisation of personally identifiable information</a:t>
            </a:r>
          </a:p>
        </p:txBody>
      </p:sp>
      <p:sp>
        <p:nvSpPr>
          <p:cNvPr name="TextBox 12" id="12"/>
          <p:cNvSpPr txBox="true"/>
          <p:nvPr/>
        </p:nvSpPr>
        <p:spPr>
          <a:xfrm rot="0">
            <a:off x="9285684" y="2634853"/>
            <a:ext cx="283521" cy="440084"/>
          </a:xfrm>
          <a:prstGeom prst="rect">
            <a:avLst/>
          </a:prstGeom>
        </p:spPr>
        <p:txBody>
          <a:bodyPr anchor="t" rtlCol="false" tIns="0" lIns="0" bIns="0" rIns="0">
            <a:spAutoFit/>
          </a:bodyPr>
          <a:lstStyle/>
          <a:p>
            <a:pPr algn="l">
              <a:lnSpc>
                <a:spcPts val="3562"/>
              </a:lnSpc>
            </a:pPr>
            <a:r>
              <a:rPr lang="en-US" sz="2187">
                <a:solidFill>
                  <a:srgbClr val="49495A"/>
                </a:solidFill>
                <a:latin typeface="Libre Baskerville"/>
                <a:ea typeface="Libre Baskerville"/>
                <a:cs typeface="Libre Baskerville"/>
                <a:sym typeface="Libre Baskerville"/>
              </a:rPr>
              <a:t>02</a:t>
            </a:r>
          </a:p>
        </p:txBody>
      </p:sp>
      <p:grpSp>
        <p:nvGrpSpPr>
          <p:cNvPr name="Group 13" id="13"/>
          <p:cNvGrpSpPr/>
          <p:nvPr/>
        </p:nvGrpSpPr>
        <p:grpSpPr>
          <a:xfrm rot="0">
            <a:off x="9285684" y="3164386"/>
            <a:ext cx="8010077" cy="38100"/>
            <a:chOff x="0" y="0"/>
            <a:chExt cx="10680103" cy="50800"/>
          </a:xfrm>
        </p:grpSpPr>
        <p:sp>
          <p:nvSpPr>
            <p:cNvPr name="Freeform 14" id="14" descr="preencoded.png"/>
            <p:cNvSpPr/>
            <p:nvPr/>
          </p:nvSpPr>
          <p:spPr>
            <a:xfrm flipH="false" flipV="false" rot="0">
              <a:off x="0" y="0"/>
              <a:ext cx="10680065" cy="50800"/>
            </a:xfrm>
            <a:custGeom>
              <a:avLst/>
              <a:gdLst/>
              <a:ahLst/>
              <a:cxnLst/>
              <a:rect r="r" b="b" t="t" l="l"/>
              <a:pathLst>
                <a:path h="50800" w="10680065">
                  <a:moveTo>
                    <a:pt x="0" y="0"/>
                  </a:moveTo>
                  <a:lnTo>
                    <a:pt x="10680065" y="0"/>
                  </a:lnTo>
                  <a:lnTo>
                    <a:pt x="10680065" y="50800"/>
                  </a:lnTo>
                  <a:lnTo>
                    <a:pt x="0" y="50800"/>
                  </a:lnTo>
                  <a:lnTo>
                    <a:pt x="0" y="0"/>
                  </a:lnTo>
                  <a:close/>
                </a:path>
              </a:pathLst>
            </a:custGeom>
            <a:blipFill>
              <a:blip r:embed="rId3"/>
              <a:stretch>
                <a:fillRect l="-2" t="0" r="-3" b="0"/>
              </a:stretch>
            </a:blipFill>
          </p:spPr>
        </p:sp>
      </p:grpSp>
      <p:sp>
        <p:nvSpPr>
          <p:cNvPr name="TextBox 15" id="15"/>
          <p:cNvSpPr txBox="true"/>
          <p:nvPr/>
        </p:nvSpPr>
        <p:spPr>
          <a:xfrm rot="0">
            <a:off x="9285684" y="3363220"/>
            <a:ext cx="3693023" cy="461962"/>
          </a:xfrm>
          <a:prstGeom prst="rect">
            <a:avLst/>
          </a:prstGeom>
        </p:spPr>
        <p:txBody>
          <a:bodyPr anchor="t" rtlCol="false" tIns="0" lIns="0" bIns="0" rIns="0">
            <a:spAutoFit/>
          </a:bodyPr>
          <a:lstStyle/>
          <a:p>
            <a:pPr algn="l">
              <a:lnSpc>
                <a:spcPts val="3437"/>
              </a:lnSpc>
            </a:pPr>
            <a:r>
              <a:rPr lang="en-US" sz="2750">
                <a:solidFill>
                  <a:srgbClr val="49495A"/>
                </a:solidFill>
                <a:latin typeface="Libre Baskerville"/>
                <a:ea typeface="Libre Baskerville"/>
                <a:cs typeface="Libre Baskerville"/>
                <a:sym typeface="Libre Baskerville"/>
              </a:rPr>
              <a:t>Feature Engineering</a:t>
            </a:r>
          </a:p>
        </p:txBody>
      </p:sp>
      <p:sp>
        <p:nvSpPr>
          <p:cNvPr name="TextBox 16" id="16"/>
          <p:cNvSpPr txBox="true"/>
          <p:nvPr/>
        </p:nvSpPr>
        <p:spPr>
          <a:xfrm rot="0">
            <a:off x="9285684" y="3909565"/>
            <a:ext cx="8010077" cy="992981"/>
          </a:xfrm>
          <a:prstGeom prst="rect">
            <a:avLst/>
          </a:prstGeom>
        </p:spPr>
        <p:txBody>
          <a:bodyPr anchor="t" rtlCol="false" tIns="0" lIns="0" bIns="0" rIns="0">
            <a:spAutoFit/>
          </a:bodyPr>
          <a:lstStyle/>
          <a:p>
            <a:pPr algn="l">
              <a:lnSpc>
                <a:spcPts val="3562"/>
              </a:lnSpc>
            </a:pPr>
            <a:r>
              <a:rPr lang="en-US" sz="2187">
                <a:solidFill>
                  <a:srgbClr val="49495A"/>
                </a:solidFill>
                <a:latin typeface="Open Sans"/>
                <a:ea typeface="Open Sans"/>
                <a:cs typeface="Open Sans"/>
                <a:sym typeface="Open Sans"/>
              </a:rPr>
              <a:t>Derived metrics including tenure calculation and sentiment analysis scores</a:t>
            </a:r>
          </a:p>
        </p:txBody>
      </p:sp>
      <p:sp>
        <p:nvSpPr>
          <p:cNvPr name="TextBox 17" id="17"/>
          <p:cNvSpPr txBox="true"/>
          <p:nvPr/>
        </p:nvSpPr>
        <p:spPr>
          <a:xfrm rot="0">
            <a:off x="992238" y="5312864"/>
            <a:ext cx="283521" cy="440084"/>
          </a:xfrm>
          <a:prstGeom prst="rect">
            <a:avLst/>
          </a:prstGeom>
        </p:spPr>
        <p:txBody>
          <a:bodyPr anchor="t" rtlCol="false" tIns="0" lIns="0" bIns="0" rIns="0">
            <a:spAutoFit/>
          </a:bodyPr>
          <a:lstStyle/>
          <a:p>
            <a:pPr algn="l">
              <a:lnSpc>
                <a:spcPts val="3562"/>
              </a:lnSpc>
            </a:pPr>
            <a:r>
              <a:rPr lang="en-US" sz="2187">
                <a:solidFill>
                  <a:srgbClr val="49495A"/>
                </a:solidFill>
                <a:latin typeface="Libre Baskerville"/>
                <a:ea typeface="Libre Baskerville"/>
                <a:cs typeface="Libre Baskerville"/>
                <a:sym typeface="Libre Baskerville"/>
              </a:rPr>
              <a:t>03</a:t>
            </a:r>
          </a:p>
        </p:txBody>
      </p:sp>
      <p:grpSp>
        <p:nvGrpSpPr>
          <p:cNvPr name="Group 18" id="18"/>
          <p:cNvGrpSpPr/>
          <p:nvPr/>
        </p:nvGrpSpPr>
        <p:grpSpPr>
          <a:xfrm rot="0">
            <a:off x="992238" y="5814117"/>
            <a:ext cx="8009934" cy="38100"/>
            <a:chOff x="0" y="0"/>
            <a:chExt cx="10679913" cy="50800"/>
          </a:xfrm>
        </p:grpSpPr>
        <p:sp>
          <p:nvSpPr>
            <p:cNvPr name="Freeform 19" id="19" descr="preencoded.png"/>
            <p:cNvSpPr/>
            <p:nvPr/>
          </p:nvSpPr>
          <p:spPr>
            <a:xfrm flipH="false" flipV="false" rot="0">
              <a:off x="0" y="0"/>
              <a:ext cx="10679938" cy="50800"/>
            </a:xfrm>
            <a:custGeom>
              <a:avLst/>
              <a:gdLst/>
              <a:ahLst/>
              <a:cxnLst/>
              <a:rect r="r" b="b" t="t" l="l"/>
              <a:pathLst>
                <a:path h="50800" w="10679938">
                  <a:moveTo>
                    <a:pt x="0" y="0"/>
                  </a:moveTo>
                  <a:lnTo>
                    <a:pt x="10679938" y="0"/>
                  </a:lnTo>
                  <a:lnTo>
                    <a:pt x="10679938" y="50800"/>
                  </a:lnTo>
                  <a:lnTo>
                    <a:pt x="0" y="50800"/>
                  </a:lnTo>
                  <a:lnTo>
                    <a:pt x="0" y="0"/>
                  </a:lnTo>
                  <a:close/>
                </a:path>
              </a:pathLst>
            </a:custGeom>
            <a:blipFill>
              <a:blip r:embed="rId3"/>
              <a:stretch>
                <a:fillRect l="-3" t="0" r="-3" b="0"/>
              </a:stretch>
            </a:blipFill>
          </p:spPr>
        </p:sp>
      </p:grpSp>
      <p:sp>
        <p:nvSpPr>
          <p:cNvPr name="TextBox 20" id="20"/>
          <p:cNvSpPr txBox="true"/>
          <p:nvPr/>
        </p:nvSpPr>
        <p:spPr>
          <a:xfrm rot="0">
            <a:off x="992238" y="6041231"/>
            <a:ext cx="4809534" cy="461962"/>
          </a:xfrm>
          <a:prstGeom prst="rect">
            <a:avLst/>
          </a:prstGeom>
        </p:spPr>
        <p:txBody>
          <a:bodyPr anchor="t" rtlCol="false" tIns="0" lIns="0" bIns="0" rIns="0">
            <a:spAutoFit/>
          </a:bodyPr>
          <a:lstStyle/>
          <a:p>
            <a:pPr algn="l">
              <a:lnSpc>
                <a:spcPts val="3437"/>
              </a:lnSpc>
            </a:pPr>
            <a:r>
              <a:rPr lang="en-US" sz="2750">
                <a:solidFill>
                  <a:srgbClr val="49495A"/>
                </a:solidFill>
                <a:latin typeface="Libre Baskerville"/>
                <a:ea typeface="Libre Baskerville"/>
                <a:cs typeface="Libre Baskerville"/>
                <a:sym typeface="Libre Baskerville"/>
              </a:rPr>
              <a:t>XGBoost Predictive Model</a:t>
            </a:r>
          </a:p>
        </p:txBody>
      </p:sp>
      <p:sp>
        <p:nvSpPr>
          <p:cNvPr name="TextBox 21" id="21"/>
          <p:cNvSpPr txBox="true"/>
          <p:nvPr/>
        </p:nvSpPr>
        <p:spPr>
          <a:xfrm rot="0">
            <a:off x="992238" y="6587576"/>
            <a:ext cx="8009934" cy="539353"/>
          </a:xfrm>
          <a:prstGeom prst="rect">
            <a:avLst/>
          </a:prstGeom>
        </p:spPr>
        <p:txBody>
          <a:bodyPr anchor="t" rtlCol="false" tIns="0" lIns="0" bIns="0" rIns="0">
            <a:spAutoFit/>
          </a:bodyPr>
          <a:lstStyle/>
          <a:p>
            <a:pPr algn="l">
              <a:lnSpc>
                <a:spcPts val="3562"/>
              </a:lnSpc>
            </a:pPr>
            <a:r>
              <a:rPr lang="en-US" sz="2187">
                <a:solidFill>
                  <a:srgbClr val="49495A"/>
                </a:solidFill>
                <a:latin typeface="Open Sans"/>
                <a:ea typeface="Open Sans"/>
                <a:cs typeface="Open Sans"/>
                <a:sym typeface="Open Sans"/>
              </a:rPr>
              <a:t>Optimised tabular learning with SHAP explainability built-in</a:t>
            </a:r>
          </a:p>
        </p:txBody>
      </p:sp>
      <p:sp>
        <p:nvSpPr>
          <p:cNvPr name="TextBox 22" id="22"/>
          <p:cNvSpPr txBox="true"/>
          <p:nvPr/>
        </p:nvSpPr>
        <p:spPr>
          <a:xfrm rot="0">
            <a:off x="9285684" y="5312864"/>
            <a:ext cx="283521" cy="440084"/>
          </a:xfrm>
          <a:prstGeom prst="rect">
            <a:avLst/>
          </a:prstGeom>
        </p:spPr>
        <p:txBody>
          <a:bodyPr anchor="t" rtlCol="false" tIns="0" lIns="0" bIns="0" rIns="0">
            <a:spAutoFit/>
          </a:bodyPr>
          <a:lstStyle/>
          <a:p>
            <a:pPr algn="l">
              <a:lnSpc>
                <a:spcPts val="3562"/>
              </a:lnSpc>
            </a:pPr>
            <a:r>
              <a:rPr lang="en-US" sz="2187">
                <a:solidFill>
                  <a:srgbClr val="49495A"/>
                </a:solidFill>
                <a:latin typeface="Libre Baskerville"/>
                <a:ea typeface="Libre Baskerville"/>
                <a:cs typeface="Libre Baskerville"/>
                <a:sym typeface="Libre Baskerville"/>
              </a:rPr>
              <a:t>04</a:t>
            </a:r>
          </a:p>
        </p:txBody>
      </p:sp>
      <p:grpSp>
        <p:nvGrpSpPr>
          <p:cNvPr name="Group 23" id="23"/>
          <p:cNvGrpSpPr/>
          <p:nvPr/>
        </p:nvGrpSpPr>
        <p:grpSpPr>
          <a:xfrm rot="0">
            <a:off x="9285684" y="5814117"/>
            <a:ext cx="8010077" cy="38100"/>
            <a:chOff x="0" y="0"/>
            <a:chExt cx="10680103" cy="50800"/>
          </a:xfrm>
        </p:grpSpPr>
        <p:sp>
          <p:nvSpPr>
            <p:cNvPr name="Freeform 24" id="24" descr="preencoded.png"/>
            <p:cNvSpPr/>
            <p:nvPr/>
          </p:nvSpPr>
          <p:spPr>
            <a:xfrm flipH="false" flipV="false" rot="0">
              <a:off x="0" y="0"/>
              <a:ext cx="10680065" cy="50800"/>
            </a:xfrm>
            <a:custGeom>
              <a:avLst/>
              <a:gdLst/>
              <a:ahLst/>
              <a:cxnLst/>
              <a:rect r="r" b="b" t="t" l="l"/>
              <a:pathLst>
                <a:path h="50800" w="10680065">
                  <a:moveTo>
                    <a:pt x="0" y="0"/>
                  </a:moveTo>
                  <a:lnTo>
                    <a:pt x="10680065" y="0"/>
                  </a:lnTo>
                  <a:lnTo>
                    <a:pt x="10680065" y="50800"/>
                  </a:lnTo>
                  <a:lnTo>
                    <a:pt x="0" y="50800"/>
                  </a:lnTo>
                  <a:lnTo>
                    <a:pt x="0" y="0"/>
                  </a:lnTo>
                  <a:close/>
                </a:path>
              </a:pathLst>
            </a:custGeom>
            <a:blipFill>
              <a:blip r:embed="rId3"/>
              <a:stretch>
                <a:fillRect l="-2" t="0" r="-3" b="0"/>
              </a:stretch>
            </a:blipFill>
          </p:spPr>
        </p:sp>
      </p:grpSp>
      <p:sp>
        <p:nvSpPr>
          <p:cNvPr name="TextBox 25" id="25"/>
          <p:cNvSpPr txBox="true"/>
          <p:nvPr/>
        </p:nvSpPr>
        <p:spPr>
          <a:xfrm rot="0">
            <a:off x="9285684" y="6041231"/>
            <a:ext cx="4380309" cy="461962"/>
          </a:xfrm>
          <a:prstGeom prst="rect">
            <a:avLst/>
          </a:prstGeom>
        </p:spPr>
        <p:txBody>
          <a:bodyPr anchor="t" rtlCol="false" tIns="0" lIns="0" bIns="0" rIns="0">
            <a:spAutoFit/>
          </a:bodyPr>
          <a:lstStyle/>
          <a:p>
            <a:pPr algn="l">
              <a:lnSpc>
                <a:spcPts val="3437"/>
              </a:lnSpc>
            </a:pPr>
            <a:r>
              <a:rPr lang="en-US" sz="2750">
                <a:solidFill>
                  <a:srgbClr val="49495A"/>
                </a:solidFill>
                <a:latin typeface="Libre Baskerville"/>
                <a:ea typeface="Libre Baskerville"/>
                <a:cs typeface="Libre Baskerville"/>
                <a:sym typeface="Libre Baskerville"/>
              </a:rPr>
              <a:t>NLP Sentiment Analysis</a:t>
            </a:r>
          </a:p>
        </p:txBody>
      </p:sp>
      <p:sp>
        <p:nvSpPr>
          <p:cNvPr name="TextBox 26" id="26"/>
          <p:cNvSpPr txBox="true"/>
          <p:nvPr/>
        </p:nvSpPr>
        <p:spPr>
          <a:xfrm rot="0">
            <a:off x="9285684" y="6587576"/>
            <a:ext cx="8010077" cy="992981"/>
          </a:xfrm>
          <a:prstGeom prst="rect">
            <a:avLst/>
          </a:prstGeom>
        </p:spPr>
        <p:txBody>
          <a:bodyPr anchor="t" rtlCol="false" tIns="0" lIns="0" bIns="0" rIns="0">
            <a:spAutoFit/>
          </a:bodyPr>
          <a:lstStyle/>
          <a:p>
            <a:pPr algn="l">
              <a:lnSpc>
                <a:spcPts val="3562"/>
              </a:lnSpc>
            </a:pPr>
            <a:r>
              <a:rPr lang="en-US" sz="2187">
                <a:solidFill>
                  <a:srgbClr val="49495A"/>
                </a:solidFill>
                <a:latin typeface="Open Sans"/>
                <a:ea typeface="Open Sans"/>
                <a:cs typeface="Open Sans"/>
                <a:sym typeface="Open Sans"/>
              </a:rPr>
              <a:t>Processing performance review notes to extract NLP_Sentiment_Score</a:t>
            </a:r>
          </a:p>
        </p:txBody>
      </p:sp>
      <p:sp>
        <p:nvSpPr>
          <p:cNvPr name="TextBox 27" id="27"/>
          <p:cNvSpPr txBox="true"/>
          <p:nvPr/>
        </p:nvSpPr>
        <p:spPr>
          <a:xfrm rot="0">
            <a:off x="992238" y="8026298"/>
            <a:ext cx="16303523" cy="992981"/>
          </a:xfrm>
          <a:prstGeom prst="rect">
            <a:avLst/>
          </a:prstGeom>
        </p:spPr>
        <p:txBody>
          <a:bodyPr anchor="t" rtlCol="false" tIns="0" lIns="0" bIns="0" rIns="0">
            <a:spAutoFit/>
          </a:bodyPr>
          <a:lstStyle/>
          <a:p>
            <a:pPr algn="l">
              <a:lnSpc>
                <a:spcPts val="3562"/>
              </a:lnSpc>
            </a:pPr>
            <a:r>
              <a:rPr lang="en-US" sz="2187">
                <a:solidFill>
                  <a:srgbClr val="49495A"/>
                </a:solidFill>
                <a:latin typeface="Open Sans"/>
                <a:ea typeface="Open Sans"/>
                <a:cs typeface="Open Sans"/>
                <a:sym typeface="Open Sans"/>
              </a:rPr>
              <a:t>Our approach balances predictive power with computational frugality—choosing targeted NLP enhancement over resource-heavy LLMs, ensuring sustainability and accessibility.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grpSp>
        <p:nvGrpSpPr>
          <p:cNvPr name="Group 6" id="6"/>
          <p:cNvGrpSpPr/>
          <p:nvPr/>
        </p:nvGrpSpPr>
        <p:grpSpPr>
          <a:xfrm rot="0">
            <a:off x="2321473" y="2967490"/>
            <a:ext cx="11895285" cy="5693254"/>
            <a:chOff x="0" y="0"/>
            <a:chExt cx="15860380" cy="7591006"/>
          </a:xfrm>
        </p:grpSpPr>
        <p:pic>
          <p:nvPicPr>
            <p:cNvPr name="Picture 7" id="7"/>
            <p:cNvPicPr>
              <a:picLocks noChangeAspect="true"/>
            </p:cNvPicPr>
            <p:nvPr/>
          </p:nvPicPr>
          <p:blipFill>
            <a:blip r:embed="rId3"/>
            <a:srcRect l="0" t="402" r="0" b="402"/>
            <a:stretch>
              <a:fillRect/>
            </a:stretch>
          </p:blipFill>
          <p:spPr>
            <a:xfrm flipH="false" flipV="false">
              <a:off x="0" y="0"/>
              <a:ext cx="15860380" cy="7591006"/>
            </a:xfrm>
            <a:prstGeom prst="rect">
              <a:avLst/>
            </a:prstGeom>
          </p:spPr>
        </p:pic>
      </p:grpSp>
      <p:sp>
        <p:nvSpPr>
          <p:cNvPr name="TextBox 8" id="8"/>
          <p:cNvSpPr txBox="true"/>
          <p:nvPr/>
        </p:nvSpPr>
        <p:spPr>
          <a:xfrm rot="0">
            <a:off x="992238" y="1238993"/>
            <a:ext cx="7276877" cy="871537"/>
          </a:xfrm>
          <a:prstGeom prst="rect">
            <a:avLst/>
          </a:prstGeom>
        </p:spPr>
        <p:txBody>
          <a:bodyPr anchor="t" rtlCol="false" tIns="0" lIns="0" bIns="0" rIns="0">
            <a:spAutoFit/>
          </a:bodyPr>
          <a:lstStyle/>
          <a:p>
            <a:pPr algn="l">
              <a:lnSpc>
                <a:spcPts val="6937"/>
              </a:lnSpc>
            </a:pPr>
            <a:r>
              <a:rPr lang="en-US" sz="5562">
                <a:solidFill>
                  <a:srgbClr val="403CCF"/>
                </a:solidFill>
                <a:latin typeface="Libre Baskerville"/>
                <a:ea typeface="Libre Baskerville"/>
                <a:cs typeface="Libre Baskerville"/>
                <a:sym typeface="Libre Baskerville"/>
              </a:rPr>
              <a:t>Model performance</a:t>
            </a:r>
          </a:p>
        </p:txBody>
      </p:sp>
      <p:grpSp>
        <p:nvGrpSpPr>
          <p:cNvPr name="Group 9" id="9"/>
          <p:cNvGrpSpPr/>
          <p:nvPr/>
        </p:nvGrpSpPr>
        <p:grpSpPr>
          <a:xfrm rot="0">
            <a:off x="992238" y="3164386"/>
            <a:ext cx="8009934" cy="38100"/>
            <a:chOff x="0" y="0"/>
            <a:chExt cx="10679913" cy="50800"/>
          </a:xfrm>
        </p:grpSpPr>
        <p:sp>
          <p:nvSpPr>
            <p:cNvPr name="Freeform 10" id="10" descr="preencoded.png"/>
            <p:cNvSpPr/>
            <p:nvPr/>
          </p:nvSpPr>
          <p:spPr>
            <a:xfrm flipH="false" flipV="false" rot="0">
              <a:off x="0" y="0"/>
              <a:ext cx="10679938" cy="50800"/>
            </a:xfrm>
            <a:custGeom>
              <a:avLst/>
              <a:gdLst/>
              <a:ahLst/>
              <a:cxnLst/>
              <a:rect r="r" b="b" t="t" l="l"/>
              <a:pathLst>
                <a:path h="50800" w="10679938">
                  <a:moveTo>
                    <a:pt x="0" y="0"/>
                  </a:moveTo>
                  <a:lnTo>
                    <a:pt x="10679938" y="0"/>
                  </a:lnTo>
                  <a:lnTo>
                    <a:pt x="10679938" y="50800"/>
                  </a:lnTo>
                  <a:lnTo>
                    <a:pt x="0" y="50800"/>
                  </a:lnTo>
                  <a:lnTo>
                    <a:pt x="0" y="0"/>
                  </a:lnTo>
                  <a:close/>
                </a:path>
              </a:pathLst>
            </a:custGeom>
            <a:blipFill>
              <a:blip r:embed="rId4"/>
              <a:stretch>
                <a:fillRect l="-3" t="0" r="-3" b="0"/>
              </a:stretch>
            </a:blipFill>
          </p:spPr>
        </p:sp>
      </p:grpSp>
      <p:grpSp>
        <p:nvGrpSpPr>
          <p:cNvPr name="Group 11" id="11"/>
          <p:cNvGrpSpPr/>
          <p:nvPr/>
        </p:nvGrpSpPr>
        <p:grpSpPr>
          <a:xfrm rot="0">
            <a:off x="9285684" y="3164386"/>
            <a:ext cx="8010077" cy="38100"/>
            <a:chOff x="0" y="0"/>
            <a:chExt cx="10680103" cy="50800"/>
          </a:xfrm>
        </p:grpSpPr>
        <p:sp>
          <p:nvSpPr>
            <p:cNvPr name="Freeform 12" id="12" descr="preencoded.png"/>
            <p:cNvSpPr/>
            <p:nvPr/>
          </p:nvSpPr>
          <p:spPr>
            <a:xfrm flipH="false" flipV="false" rot="0">
              <a:off x="0" y="0"/>
              <a:ext cx="10680065" cy="50800"/>
            </a:xfrm>
            <a:custGeom>
              <a:avLst/>
              <a:gdLst/>
              <a:ahLst/>
              <a:cxnLst/>
              <a:rect r="r" b="b" t="t" l="l"/>
              <a:pathLst>
                <a:path h="50800" w="10680065">
                  <a:moveTo>
                    <a:pt x="0" y="0"/>
                  </a:moveTo>
                  <a:lnTo>
                    <a:pt x="10680065" y="0"/>
                  </a:lnTo>
                  <a:lnTo>
                    <a:pt x="10680065" y="50800"/>
                  </a:lnTo>
                  <a:lnTo>
                    <a:pt x="0" y="50800"/>
                  </a:lnTo>
                  <a:lnTo>
                    <a:pt x="0" y="0"/>
                  </a:lnTo>
                  <a:close/>
                </a:path>
              </a:pathLst>
            </a:custGeom>
            <a:blipFill>
              <a:blip r:embed="rId4"/>
              <a:stretch>
                <a:fillRect l="-2" t="0" r="-3" b="0"/>
              </a:stretch>
            </a:blipFill>
          </p:spPr>
        </p:sp>
      </p:grpSp>
      <p:grpSp>
        <p:nvGrpSpPr>
          <p:cNvPr name="Group 13" id="13"/>
          <p:cNvGrpSpPr/>
          <p:nvPr/>
        </p:nvGrpSpPr>
        <p:grpSpPr>
          <a:xfrm rot="0">
            <a:off x="992238" y="5814117"/>
            <a:ext cx="8009934" cy="38100"/>
            <a:chOff x="0" y="0"/>
            <a:chExt cx="10679913" cy="50800"/>
          </a:xfrm>
        </p:grpSpPr>
        <p:sp>
          <p:nvSpPr>
            <p:cNvPr name="Freeform 14" id="14" descr="preencoded.png"/>
            <p:cNvSpPr/>
            <p:nvPr/>
          </p:nvSpPr>
          <p:spPr>
            <a:xfrm flipH="false" flipV="false" rot="0">
              <a:off x="0" y="0"/>
              <a:ext cx="10679938" cy="50800"/>
            </a:xfrm>
            <a:custGeom>
              <a:avLst/>
              <a:gdLst/>
              <a:ahLst/>
              <a:cxnLst/>
              <a:rect r="r" b="b" t="t" l="l"/>
              <a:pathLst>
                <a:path h="50800" w="10679938">
                  <a:moveTo>
                    <a:pt x="0" y="0"/>
                  </a:moveTo>
                  <a:lnTo>
                    <a:pt x="10679938" y="0"/>
                  </a:lnTo>
                  <a:lnTo>
                    <a:pt x="10679938" y="50800"/>
                  </a:lnTo>
                  <a:lnTo>
                    <a:pt x="0" y="50800"/>
                  </a:lnTo>
                  <a:lnTo>
                    <a:pt x="0" y="0"/>
                  </a:lnTo>
                  <a:close/>
                </a:path>
              </a:pathLst>
            </a:custGeom>
            <a:blipFill>
              <a:blip r:embed="rId4"/>
              <a:stretch>
                <a:fillRect l="-3" t="0" r="-3" b="0"/>
              </a:stretch>
            </a:blipFill>
          </p:spPr>
        </p:sp>
      </p:grpSp>
      <p:grpSp>
        <p:nvGrpSpPr>
          <p:cNvPr name="Group 15" id="15"/>
          <p:cNvGrpSpPr/>
          <p:nvPr/>
        </p:nvGrpSpPr>
        <p:grpSpPr>
          <a:xfrm rot="0">
            <a:off x="9285684" y="5814117"/>
            <a:ext cx="8010077" cy="38100"/>
            <a:chOff x="0" y="0"/>
            <a:chExt cx="10680103" cy="50800"/>
          </a:xfrm>
        </p:grpSpPr>
        <p:sp>
          <p:nvSpPr>
            <p:cNvPr name="Freeform 16" id="16" descr="preencoded.png"/>
            <p:cNvSpPr/>
            <p:nvPr/>
          </p:nvSpPr>
          <p:spPr>
            <a:xfrm flipH="false" flipV="false" rot="0">
              <a:off x="0" y="0"/>
              <a:ext cx="10680065" cy="50800"/>
            </a:xfrm>
            <a:custGeom>
              <a:avLst/>
              <a:gdLst/>
              <a:ahLst/>
              <a:cxnLst/>
              <a:rect r="r" b="b" t="t" l="l"/>
              <a:pathLst>
                <a:path h="50800" w="10680065">
                  <a:moveTo>
                    <a:pt x="0" y="0"/>
                  </a:moveTo>
                  <a:lnTo>
                    <a:pt x="10680065" y="0"/>
                  </a:lnTo>
                  <a:lnTo>
                    <a:pt x="10680065" y="50800"/>
                  </a:lnTo>
                  <a:lnTo>
                    <a:pt x="0" y="50800"/>
                  </a:lnTo>
                  <a:lnTo>
                    <a:pt x="0" y="0"/>
                  </a:lnTo>
                  <a:close/>
                </a:path>
              </a:pathLst>
            </a:custGeom>
            <a:blipFill>
              <a:blip r:embed="rId4"/>
              <a:stretch>
                <a:fillRect l="-2" t="0" r="-3"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430000" y="0"/>
            <a:ext cx="6858000" cy="10287000"/>
            <a:chOff x="0" y="0"/>
            <a:chExt cx="9144000" cy="13716000"/>
          </a:xfrm>
        </p:grpSpPr>
        <p:sp>
          <p:nvSpPr>
            <p:cNvPr name="Freeform 9" id="9"/>
            <p:cNvSpPr/>
            <p:nvPr/>
          </p:nvSpPr>
          <p:spPr>
            <a:xfrm flipH="false" flipV="false" rot="0">
              <a:off x="0" y="0"/>
              <a:ext cx="9144000" cy="13716000"/>
            </a:xfrm>
            <a:custGeom>
              <a:avLst/>
              <a:gdLst/>
              <a:ahLst/>
              <a:cxnLst/>
              <a:rect r="r" b="b" t="t" l="l"/>
              <a:pathLst>
                <a:path h="13716000" w="9144000">
                  <a:moveTo>
                    <a:pt x="0" y="0"/>
                  </a:moveTo>
                  <a:lnTo>
                    <a:pt x="9144000" y="0"/>
                  </a:lnTo>
                  <a:lnTo>
                    <a:pt x="9144000" y="13716000"/>
                  </a:lnTo>
                  <a:lnTo>
                    <a:pt x="0" y="13716000"/>
                  </a:lnTo>
                  <a:lnTo>
                    <a:pt x="0" y="0"/>
                  </a:lnTo>
                  <a:close/>
                </a:path>
              </a:pathLst>
            </a:custGeom>
            <a:blipFill>
              <a:blip r:embed="rId5"/>
              <a:stretch>
                <a:fillRect l="-13562" t="0" r="-13562" b="0"/>
              </a:stretch>
            </a:blipFill>
          </p:spPr>
        </p:sp>
      </p:grpSp>
      <p:grpSp>
        <p:nvGrpSpPr>
          <p:cNvPr name="Group 10" id="10"/>
          <p:cNvGrpSpPr/>
          <p:nvPr/>
        </p:nvGrpSpPr>
        <p:grpSpPr>
          <a:xfrm rot="0">
            <a:off x="992238" y="6220863"/>
            <a:ext cx="9445523" cy="2112016"/>
            <a:chOff x="0" y="0"/>
            <a:chExt cx="12594031" cy="2816022"/>
          </a:xfrm>
        </p:grpSpPr>
        <p:sp>
          <p:nvSpPr>
            <p:cNvPr name="Freeform 11" id="11"/>
            <p:cNvSpPr/>
            <p:nvPr/>
          </p:nvSpPr>
          <p:spPr>
            <a:xfrm flipH="false" flipV="false" rot="0">
              <a:off x="0" y="0"/>
              <a:ext cx="12594082" cy="2816098"/>
            </a:xfrm>
            <a:custGeom>
              <a:avLst/>
              <a:gdLst/>
              <a:ahLst/>
              <a:cxnLst/>
              <a:rect r="r" b="b" t="t" l="l"/>
              <a:pathLst>
                <a:path h="2816098" w="12594082">
                  <a:moveTo>
                    <a:pt x="0" y="56769"/>
                  </a:moveTo>
                  <a:cubicBezTo>
                    <a:pt x="0" y="25400"/>
                    <a:pt x="25400" y="0"/>
                    <a:pt x="56769" y="0"/>
                  </a:cubicBezTo>
                  <a:lnTo>
                    <a:pt x="12537313" y="0"/>
                  </a:lnTo>
                  <a:cubicBezTo>
                    <a:pt x="12568682" y="0"/>
                    <a:pt x="12594082" y="25400"/>
                    <a:pt x="12594082" y="56769"/>
                  </a:cubicBezTo>
                  <a:lnTo>
                    <a:pt x="12594082" y="2759329"/>
                  </a:lnTo>
                  <a:cubicBezTo>
                    <a:pt x="12594082" y="2790698"/>
                    <a:pt x="12568682" y="2816098"/>
                    <a:pt x="12537313" y="2816098"/>
                  </a:cubicBezTo>
                  <a:lnTo>
                    <a:pt x="56769" y="2816098"/>
                  </a:lnTo>
                  <a:cubicBezTo>
                    <a:pt x="25400" y="2816098"/>
                    <a:pt x="0" y="2790698"/>
                    <a:pt x="0" y="2759329"/>
                  </a:cubicBezTo>
                  <a:close/>
                </a:path>
              </a:pathLst>
            </a:custGeom>
            <a:solidFill>
              <a:srgbClr val="C3C2F0"/>
            </a:solidFill>
          </p:spPr>
        </p:sp>
      </p:grpSp>
      <p:grpSp>
        <p:nvGrpSpPr>
          <p:cNvPr name="Group 12" id="12"/>
          <p:cNvGrpSpPr/>
          <p:nvPr/>
        </p:nvGrpSpPr>
        <p:grpSpPr>
          <a:xfrm rot="0">
            <a:off x="1275759" y="6660509"/>
            <a:ext cx="354359" cy="283521"/>
            <a:chOff x="0" y="0"/>
            <a:chExt cx="472478" cy="378028"/>
          </a:xfrm>
        </p:grpSpPr>
        <p:sp>
          <p:nvSpPr>
            <p:cNvPr name="Freeform 13" id="13" descr="preencoded.png"/>
            <p:cNvSpPr/>
            <p:nvPr/>
          </p:nvSpPr>
          <p:spPr>
            <a:xfrm flipH="false" flipV="false" rot="0">
              <a:off x="0" y="0"/>
              <a:ext cx="472440" cy="378079"/>
            </a:xfrm>
            <a:custGeom>
              <a:avLst/>
              <a:gdLst/>
              <a:ahLst/>
              <a:cxnLst/>
              <a:rect r="r" b="b" t="t" l="l"/>
              <a:pathLst>
                <a:path h="378079" w="472440">
                  <a:moveTo>
                    <a:pt x="0" y="0"/>
                  </a:moveTo>
                  <a:lnTo>
                    <a:pt x="472440" y="0"/>
                  </a:lnTo>
                  <a:lnTo>
                    <a:pt x="472440" y="378079"/>
                  </a:lnTo>
                  <a:lnTo>
                    <a:pt x="0" y="378079"/>
                  </a:lnTo>
                  <a:lnTo>
                    <a:pt x="0" y="0"/>
                  </a:lnTo>
                  <a:close/>
                </a:path>
              </a:pathLst>
            </a:custGeom>
            <a:blipFill>
              <a:blip r:embed="rId6"/>
              <a:stretch>
                <a:fillRect l="0" t="-671" r="-8" b="-655"/>
              </a:stretch>
            </a:blipFill>
          </p:spPr>
        </p:sp>
      </p:grpSp>
      <p:sp>
        <p:nvSpPr>
          <p:cNvPr name="TextBox 14" id="14"/>
          <p:cNvSpPr txBox="true"/>
          <p:nvPr/>
        </p:nvSpPr>
        <p:spPr>
          <a:xfrm rot="0">
            <a:off x="992238" y="1925536"/>
            <a:ext cx="8115595" cy="914552"/>
          </a:xfrm>
          <a:prstGeom prst="rect">
            <a:avLst/>
          </a:prstGeom>
        </p:spPr>
        <p:txBody>
          <a:bodyPr anchor="t" rtlCol="false" tIns="0" lIns="0" bIns="0" rIns="0">
            <a:spAutoFit/>
          </a:bodyPr>
          <a:lstStyle/>
          <a:p>
            <a:pPr algn="l">
              <a:lnSpc>
                <a:spcPts val="6937"/>
              </a:lnSpc>
            </a:pPr>
            <a:r>
              <a:rPr lang="en-US" sz="5562">
                <a:solidFill>
                  <a:srgbClr val="403CCF"/>
                </a:solidFill>
                <a:latin typeface="Libre Baskerville"/>
                <a:ea typeface="Libre Baskerville"/>
                <a:cs typeface="Libre Baskerville"/>
                <a:sym typeface="Libre Baskerville"/>
              </a:rPr>
              <a:t>Pillar 1: Explainable AI</a:t>
            </a:r>
          </a:p>
        </p:txBody>
      </p:sp>
      <p:sp>
        <p:nvSpPr>
          <p:cNvPr name="TextBox 15" id="15"/>
          <p:cNvSpPr txBox="true"/>
          <p:nvPr/>
        </p:nvSpPr>
        <p:spPr>
          <a:xfrm rot="0">
            <a:off x="992238" y="2934443"/>
            <a:ext cx="7838484" cy="727767"/>
          </a:xfrm>
          <a:prstGeom prst="rect">
            <a:avLst/>
          </a:prstGeom>
        </p:spPr>
        <p:txBody>
          <a:bodyPr anchor="t" rtlCol="false" tIns="0" lIns="0" bIns="0" rIns="0">
            <a:spAutoFit/>
          </a:bodyPr>
          <a:lstStyle/>
          <a:p>
            <a:pPr algn="l">
              <a:lnSpc>
                <a:spcPts val="5562"/>
              </a:lnSpc>
            </a:pPr>
            <a:r>
              <a:rPr lang="en-US" sz="4437">
                <a:solidFill>
                  <a:srgbClr val="403CCF"/>
                </a:solidFill>
                <a:latin typeface="Libre Baskerville"/>
                <a:ea typeface="Libre Baskerville"/>
                <a:cs typeface="Libre Baskerville"/>
                <a:sym typeface="Libre Baskerville"/>
              </a:rPr>
              <a:t>Global Feature Importance</a:t>
            </a:r>
          </a:p>
        </p:txBody>
      </p:sp>
      <p:sp>
        <p:nvSpPr>
          <p:cNvPr name="TextBox 16" id="16"/>
          <p:cNvSpPr txBox="true"/>
          <p:nvPr/>
        </p:nvSpPr>
        <p:spPr>
          <a:xfrm rot="0">
            <a:off x="992238" y="4001691"/>
            <a:ext cx="9445523" cy="1900237"/>
          </a:xfrm>
          <a:prstGeom prst="rect">
            <a:avLst/>
          </a:prstGeom>
        </p:spPr>
        <p:txBody>
          <a:bodyPr anchor="t" rtlCol="false" tIns="0" lIns="0" bIns="0" rIns="0">
            <a:spAutoFit/>
          </a:bodyPr>
          <a:lstStyle/>
          <a:p>
            <a:pPr algn="l">
              <a:lnSpc>
                <a:spcPts val="3562"/>
              </a:lnSpc>
            </a:pPr>
            <a:r>
              <a:rPr lang="en-US" sz="2187">
                <a:solidFill>
                  <a:srgbClr val="49495A"/>
                </a:solidFill>
                <a:latin typeface="Open Sans"/>
                <a:ea typeface="Open Sans"/>
                <a:cs typeface="Open Sans"/>
                <a:sym typeface="Open Sans"/>
              </a:rPr>
              <a:t>Using </a:t>
            </a:r>
            <a:r>
              <a:rPr lang="en-US" sz="2187" b="true">
                <a:solidFill>
                  <a:srgbClr val="49495A"/>
                </a:solidFill>
                <a:latin typeface="Open Sans Bold"/>
                <a:ea typeface="Open Sans Bold"/>
                <a:cs typeface="Open Sans Bold"/>
                <a:sym typeface="Open Sans Bold"/>
              </a:rPr>
              <a:t>SHAP (Shapley Additive Explanations)</a:t>
            </a:r>
            <a:r>
              <a:rPr lang="en-US" sz="2187">
                <a:solidFill>
                  <a:srgbClr val="49495A"/>
                </a:solidFill>
                <a:latin typeface="Open Sans"/>
                <a:ea typeface="Open Sans"/>
                <a:cs typeface="Open Sans"/>
                <a:sym typeface="Open Sans"/>
              </a:rPr>
              <a:t>, we rank company-wide turnover drivers. The top five influencers—tenure, salary, manager relationship, sentiment score, and role satisfaction—provide strategic direction for organisational interventions.</a:t>
            </a:r>
          </a:p>
        </p:txBody>
      </p:sp>
      <p:sp>
        <p:nvSpPr>
          <p:cNvPr name="TextBox 17" id="17"/>
          <p:cNvSpPr txBox="true"/>
          <p:nvPr/>
        </p:nvSpPr>
        <p:spPr>
          <a:xfrm rot="0">
            <a:off x="1913630" y="6489497"/>
            <a:ext cx="8240611" cy="1446609"/>
          </a:xfrm>
          <a:prstGeom prst="rect">
            <a:avLst/>
          </a:prstGeom>
        </p:spPr>
        <p:txBody>
          <a:bodyPr anchor="t" rtlCol="false" tIns="0" lIns="0" bIns="0" rIns="0">
            <a:spAutoFit/>
          </a:bodyPr>
          <a:lstStyle/>
          <a:p>
            <a:pPr algn="l">
              <a:lnSpc>
                <a:spcPts val="3562"/>
              </a:lnSpc>
            </a:pPr>
            <a:r>
              <a:rPr lang="en-US" sz="2187">
                <a:solidFill>
                  <a:srgbClr val="403CCF"/>
                </a:solidFill>
                <a:latin typeface="Open Sans"/>
                <a:ea typeface="Open Sans"/>
                <a:cs typeface="Open Sans"/>
                <a:sym typeface="Open Sans"/>
              </a:rPr>
              <a:t>Key Insight:</a:t>
            </a:r>
            <a:r>
              <a:rPr lang="en-US" sz="2187">
                <a:solidFill>
                  <a:srgbClr val="000000"/>
                </a:solidFill>
                <a:latin typeface="Open Sans"/>
                <a:ea typeface="Open Sans"/>
                <a:cs typeface="Open Sans"/>
                <a:sym typeface="Open Sans"/>
              </a:rPr>
              <a:t> Understanding </a:t>
            </a:r>
            <a:r>
              <a:rPr lang="en-US" sz="2187" i="true">
                <a:solidFill>
                  <a:srgbClr val="000000"/>
                </a:solidFill>
                <a:latin typeface="Open Sans Italics"/>
                <a:ea typeface="Open Sans Italics"/>
                <a:cs typeface="Open Sans Italics"/>
                <a:sym typeface="Open Sans Italics"/>
              </a:rPr>
              <a:t>what drives turnover across the organisation</a:t>
            </a:r>
            <a:r>
              <a:rPr lang="en-US" sz="2187">
                <a:solidFill>
                  <a:srgbClr val="000000"/>
                </a:solidFill>
                <a:latin typeface="Open Sans"/>
                <a:ea typeface="Open Sans"/>
                <a:cs typeface="Open Sans"/>
                <a:sym typeface="Open Sans"/>
              </a:rPr>
              <a:t> enables proactive policy adjustments rather than reactive firefighting.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grpSp>
        <p:nvGrpSpPr>
          <p:cNvPr name="Group 6" id="6"/>
          <p:cNvGrpSpPr/>
          <p:nvPr/>
        </p:nvGrpSpPr>
        <p:grpSpPr>
          <a:xfrm rot="0">
            <a:off x="11862313" y="0"/>
            <a:ext cx="5906402" cy="4808664"/>
            <a:chOff x="0" y="0"/>
            <a:chExt cx="13806881" cy="11240796"/>
          </a:xfrm>
        </p:grpSpPr>
        <p:sp>
          <p:nvSpPr>
            <p:cNvPr name="Freeform 7" id="7"/>
            <p:cNvSpPr/>
            <p:nvPr/>
          </p:nvSpPr>
          <p:spPr>
            <a:xfrm flipH="false" flipV="false" rot="0">
              <a:off x="0" y="0"/>
              <a:ext cx="13806932" cy="11240808"/>
            </a:xfrm>
            <a:custGeom>
              <a:avLst/>
              <a:gdLst/>
              <a:ahLst/>
              <a:cxnLst/>
              <a:rect r="r" b="b" t="t" l="l"/>
              <a:pathLst>
                <a:path h="11240808" w="13806932">
                  <a:moveTo>
                    <a:pt x="0" y="0"/>
                  </a:moveTo>
                  <a:lnTo>
                    <a:pt x="13806932" y="0"/>
                  </a:lnTo>
                  <a:lnTo>
                    <a:pt x="13806932" y="11240808"/>
                  </a:lnTo>
                  <a:lnTo>
                    <a:pt x="0" y="11240808"/>
                  </a:lnTo>
                  <a:lnTo>
                    <a:pt x="0" y="0"/>
                  </a:lnTo>
                  <a:close/>
                </a:path>
              </a:pathLst>
            </a:custGeom>
            <a:blipFill>
              <a:blip r:embed="rId3"/>
              <a:stretch>
                <a:fillRect l="0" t="0" r="0" b="-5018"/>
              </a:stretch>
            </a:blipFill>
          </p:spPr>
        </p:sp>
      </p:grpSp>
      <p:grpSp>
        <p:nvGrpSpPr>
          <p:cNvPr name="Group 8" id="8"/>
          <p:cNvGrpSpPr/>
          <p:nvPr/>
        </p:nvGrpSpPr>
        <p:grpSpPr>
          <a:xfrm rot="0">
            <a:off x="11862313" y="4983764"/>
            <a:ext cx="5906402" cy="5569562"/>
            <a:chOff x="0" y="0"/>
            <a:chExt cx="15919902" cy="15011995"/>
          </a:xfrm>
        </p:grpSpPr>
        <p:sp>
          <p:nvSpPr>
            <p:cNvPr name="Freeform 9" id="9"/>
            <p:cNvSpPr/>
            <p:nvPr/>
          </p:nvSpPr>
          <p:spPr>
            <a:xfrm flipH="false" flipV="false" rot="0">
              <a:off x="0" y="0"/>
              <a:ext cx="15919901" cy="15011995"/>
            </a:xfrm>
            <a:custGeom>
              <a:avLst/>
              <a:gdLst/>
              <a:ahLst/>
              <a:cxnLst/>
              <a:rect r="r" b="b" t="t" l="l"/>
              <a:pathLst>
                <a:path h="15011995" w="15919901">
                  <a:moveTo>
                    <a:pt x="0" y="0"/>
                  </a:moveTo>
                  <a:lnTo>
                    <a:pt x="15919901" y="0"/>
                  </a:lnTo>
                  <a:lnTo>
                    <a:pt x="15919901" y="15011995"/>
                  </a:lnTo>
                  <a:lnTo>
                    <a:pt x="0" y="15011995"/>
                  </a:lnTo>
                  <a:lnTo>
                    <a:pt x="0" y="0"/>
                  </a:lnTo>
                  <a:close/>
                </a:path>
              </a:pathLst>
            </a:custGeom>
            <a:blipFill>
              <a:blip r:embed="rId4"/>
              <a:stretch>
                <a:fillRect l="-165" t="0" r="-165" b="0"/>
              </a:stretch>
            </a:blipFill>
          </p:spPr>
        </p:sp>
      </p:grpSp>
      <p:sp>
        <p:nvSpPr>
          <p:cNvPr name="TextBox 10" id="10"/>
          <p:cNvSpPr txBox="true"/>
          <p:nvPr/>
        </p:nvSpPr>
        <p:spPr>
          <a:xfrm rot="0">
            <a:off x="992238" y="867518"/>
            <a:ext cx="10384927" cy="914552"/>
          </a:xfrm>
          <a:prstGeom prst="rect">
            <a:avLst/>
          </a:prstGeom>
        </p:spPr>
        <p:txBody>
          <a:bodyPr anchor="t" rtlCol="false" tIns="0" lIns="0" bIns="0" rIns="0">
            <a:spAutoFit/>
          </a:bodyPr>
          <a:lstStyle/>
          <a:p>
            <a:pPr algn="l">
              <a:lnSpc>
                <a:spcPts val="6937"/>
              </a:lnSpc>
            </a:pPr>
            <a:r>
              <a:rPr lang="en-US" sz="5562">
                <a:solidFill>
                  <a:srgbClr val="403CCF"/>
                </a:solidFill>
                <a:latin typeface="Libre Baskerville"/>
                <a:ea typeface="Libre Baskerville"/>
                <a:cs typeface="Libre Baskerville"/>
                <a:sym typeface="Libre Baskerville"/>
              </a:rPr>
              <a:t>Local Explanations in Action</a:t>
            </a:r>
          </a:p>
        </p:txBody>
      </p:sp>
      <p:sp>
        <p:nvSpPr>
          <p:cNvPr name="TextBox 11" id="11"/>
          <p:cNvSpPr txBox="true"/>
          <p:nvPr/>
        </p:nvSpPr>
        <p:spPr>
          <a:xfrm rot="0">
            <a:off x="992238" y="2498379"/>
            <a:ext cx="5256457" cy="1082278"/>
          </a:xfrm>
          <a:prstGeom prst="rect">
            <a:avLst/>
          </a:prstGeom>
        </p:spPr>
        <p:txBody>
          <a:bodyPr anchor="t" rtlCol="false" tIns="0" lIns="0" bIns="0" rIns="0">
            <a:spAutoFit/>
          </a:bodyPr>
          <a:lstStyle/>
          <a:p>
            <a:pPr algn="l">
              <a:lnSpc>
                <a:spcPts val="4125"/>
              </a:lnSpc>
            </a:pPr>
            <a:r>
              <a:rPr lang="en-US" sz="3312">
                <a:solidFill>
                  <a:srgbClr val="403CCF"/>
                </a:solidFill>
                <a:latin typeface="Libre Baskerville"/>
                <a:ea typeface="Libre Baskerville"/>
                <a:cs typeface="Libre Baskerville"/>
                <a:sym typeface="Libre Baskerville"/>
              </a:rPr>
              <a:t>Real-Time Transparency</a:t>
            </a:r>
          </a:p>
        </p:txBody>
      </p:sp>
      <p:sp>
        <p:nvSpPr>
          <p:cNvPr name="TextBox 12" id="12"/>
          <p:cNvSpPr txBox="true"/>
          <p:nvPr/>
        </p:nvSpPr>
        <p:spPr>
          <a:xfrm rot="0">
            <a:off x="992238" y="3778453"/>
            <a:ext cx="5256457" cy="2807494"/>
          </a:xfrm>
          <a:prstGeom prst="rect">
            <a:avLst/>
          </a:prstGeom>
        </p:spPr>
        <p:txBody>
          <a:bodyPr anchor="t" rtlCol="false" tIns="0" lIns="0" bIns="0" rIns="0">
            <a:spAutoFit/>
          </a:bodyPr>
          <a:lstStyle/>
          <a:p>
            <a:pPr algn="l">
              <a:lnSpc>
                <a:spcPts val="3562"/>
              </a:lnSpc>
            </a:pPr>
            <a:r>
              <a:rPr lang="en-US" sz="2187">
                <a:solidFill>
                  <a:srgbClr val="49495A"/>
                </a:solidFill>
                <a:latin typeface="Open Sans"/>
                <a:ea typeface="Open Sans"/>
                <a:cs typeface="Open Sans"/>
                <a:sym typeface="Open Sans"/>
              </a:rPr>
              <a:t>For each "at-risk" employee, the Waterfall plot reveals precisely why their risk score is elevated. For example, "Risk increased by low sentiment score" flags review language concerns.</a:t>
            </a:r>
          </a:p>
        </p:txBody>
      </p:sp>
      <p:sp>
        <p:nvSpPr>
          <p:cNvPr name="TextBox 13" id="13"/>
          <p:cNvSpPr txBox="true"/>
          <p:nvPr/>
        </p:nvSpPr>
        <p:spPr>
          <a:xfrm rot="0">
            <a:off x="992238" y="6755311"/>
            <a:ext cx="5256457" cy="2353866"/>
          </a:xfrm>
          <a:prstGeom prst="rect">
            <a:avLst/>
          </a:prstGeom>
        </p:spPr>
        <p:txBody>
          <a:bodyPr anchor="t" rtlCol="false" tIns="0" lIns="0" bIns="0" rIns="0">
            <a:spAutoFit/>
          </a:bodyPr>
          <a:lstStyle/>
          <a:p>
            <a:pPr algn="l">
              <a:lnSpc>
                <a:spcPts val="3562"/>
              </a:lnSpc>
            </a:pPr>
            <a:r>
              <a:rPr lang="en-US" sz="2187">
                <a:solidFill>
                  <a:srgbClr val="49495A"/>
                </a:solidFill>
                <a:latin typeface="Open Sans"/>
                <a:ea typeface="Open Sans"/>
                <a:cs typeface="Open Sans"/>
                <a:sym typeface="Open Sans"/>
              </a:rPr>
              <a:t>This granularity empowers HR managers to engage employees with specific, evidence-based support—transforming prediction into </a:t>
            </a:r>
            <a:r>
              <a:rPr lang="en-US" sz="2187">
                <a:solidFill>
                  <a:srgbClr val="403CCF"/>
                </a:solidFill>
                <a:latin typeface="Open Sans"/>
                <a:ea typeface="Open Sans"/>
                <a:cs typeface="Open Sans"/>
                <a:sym typeface="Open Sans"/>
              </a:rPr>
              <a:t>personalised retention strategy</a:t>
            </a:r>
            <a:r>
              <a:rPr lang="en-US" sz="2187">
                <a:solidFill>
                  <a:srgbClr val="49495A"/>
                </a:solidFill>
                <a:latin typeface="Open Sans"/>
                <a:ea typeface="Open Sans"/>
                <a:cs typeface="Open Sans"/>
                <a:sym typeface="Open Sans"/>
              </a:rPr>
              <a: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grpSp>
        <p:nvGrpSpPr>
          <p:cNvPr name="Group 6" id="6"/>
          <p:cNvGrpSpPr/>
          <p:nvPr/>
        </p:nvGrpSpPr>
        <p:grpSpPr>
          <a:xfrm rot="0">
            <a:off x="16049015" y="9686925"/>
            <a:ext cx="2153260" cy="514350"/>
            <a:chOff x="0" y="0"/>
            <a:chExt cx="2871013" cy="685800"/>
          </a:xfrm>
        </p:grpSpPr>
        <p:sp>
          <p:nvSpPr>
            <p:cNvPr name="Freeform 7" id="7" descr="preencoded.png">
              <a:hlinkClick r:id="rId3" tooltip="https://gamma.app/?utm_source=made-with-gamma"/>
            </p:cNvPr>
            <p:cNvSpPr/>
            <p:nvPr/>
          </p:nvSpPr>
          <p:spPr>
            <a:xfrm flipH="false" flipV="false" rot="0">
              <a:off x="0" y="0"/>
              <a:ext cx="2870962" cy="685800"/>
            </a:xfrm>
            <a:custGeom>
              <a:avLst/>
              <a:gdLst/>
              <a:ahLst/>
              <a:cxnLst/>
              <a:rect r="r" b="b" t="t" l="l"/>
              <a:pathLst>
                <a:path h="685800" w="2870962">
                  <a:moveTo>
                    <a:pt x="0" y="0"/>
                  </a:moveTo>
                  <a:lnTo>
                    <a:pt x="2870962" y="0"/>
                  </a:lnTo>
                  <a:lnTo>
                    <a:pt x="2870962" y="685800"/>
                  </a:lnTo>
                  <a:lnTo>
                    <a:pt x="0" y="685800"/>
                  </a:lnTo>
                  <a:lnTo>
                    <a:pt x="0" y="0"/>
                  </a:lnTo>
                  <a:close/>
                </a:path>
              </a:pathLst>
            </a:custGeom>
            <a:blipFill>
              <a:blip r:embed="rId4"/>
              <a:stretch>
                <a:fillRect l="0" t="0" r="-1" b="0"/>
              </a:stretch>
            </a:blipFill>
          </p:spPr>
        </p:sp>
      </p:grpSp>
      <p:grpSp>
        <p:nvGrpSpPr>
          <p:cNvPr name="Group 8" id="8"/>
          <p:cNvGrpSpPr/>
          <p:nvPr/>
        </p:nvGrpSpPr>
        <p:grpSpPr>
          <a:xfrm rot="0">
            <a:off x="11525850" y="0"/>
            <a:ext cx="6858000" cy="11480897"/>
            <a:chOff x="0" y="0"/>
            <a:chExt cx="9144000" cy="15307862"/>
          </a:xfrm>
        </p:grpSpPr>
        <p:sp>
          <p:nvSpPr>
            <p:cNvPr name="Freeform 9" id="9" descr="preencoded.png"/>
            <p:cNvSpPr/>
            <p:nvPr/>
          </p:nvSpPr>
          <p:spPr>
            <a:xfrm flipH="false" flipV="false" rot="0">
              <a:off x="0" y="0"/>
              <a:ext cx="9144000" cy="15307863"/>
            </a:xfrm>
            <a:custGeom>
              <a:avLst/>
              <a:gdLst/>
              <a:ahLst/>
              <a:cxnLst/>
              <a:rect r="r" b="b" t="t" l="l"/>
              <a:pathLst>
                <a:path h="15307863" w="9144000">
                  <a:moveTo>
                    <a:pt x="0" y="0"/>
                  </a:moveTo>
                  <a:lnTo>
                    <a:pt x="9144000" y="0"/>
                  </a:lnTo>
                  <a:lnTo>
                    <a:pt x="9144000" y="15307863"/>
                  </a:lnTo>
                  <a:lnTo>
                    <a:pt x="0" y="15307863"/>
                  </a:lnTo>
                  <a:lnTo>
                    <a:pt x="0" y="0"/>
                  </a:lnTo>
                  <a:close/>
                </a:path>
              </a:pathLst>
            </a:custGeom>
            <a:blipFill>
              <a:blip r:embed="rId5"/>
              <a:stretch>
                <a:fillRect l="-5802" t="0" r="-5802" b="0"/>
              </a:stretch>
            </a:blipFill>
          </p:spPr>
        </p:sp>
      </p:grpSp>
      <p:grpSp>
        <p:nvGrpSpPr>
          <p:cNvPr name="Group 10" id="10"/>
          <p:cNvGrpSpPr/>
          <p:nvPr/>
        </p:nvGrpSpPr>
        <p:grpSpPr>
          <a:xfrm rot="0">
            <a:off x="847134" y="3166615"/>
            <a:ext cx="4764586" cy="2454773"/>
            <a:chOff x="0" y="0"/>
            <a:chExt cx="6352781" cy="3273031"/>
          </a:xfrm>
        </p:grpSpPr>
        <p:sp>
          <p:nvSpPr>
            <p:cNvPr name="Freeform 11" id="11"/>
            <p:cNvSpPr/>
            <p:nvPr/>
          </p:nvSpPr>
          <p:spPr>
            <a:xfrm flipH="false" flipV="false" rot="0">
              <a:off x="0" y="0"/>
              <a:ext cx="6352794" cy="3273044"/>
            </a:xfrm>
            <a:custGeom>
              <a:avLst/>
              <a:gdLst/>
              <a:ahLst/>
              <a:cxnLst/>
              <a:rect r="r" b="b" t="t" l="l"/>
              <a:pathLst>
                <a:path h="3273044" w="6352794">
                  <a:moveTo>
                    <a:pt x="0" y="182880"/>
                  </a:moveTo>
                  <a:cubicBezTo>
                    <a:pt x="0" y="81915"/>
                    <a:pt x="81915" y="0"/>
                    <a:pt x="182880" y="0"/>
                  </a:cubicBezTo>
                  <a:lnTo>
                    <a:pt x="6169914" y="0"/>
                  </a:lnTo>
                  <a:cubicBezTo>
                    <a:pt x="6270879" y="0"/>
                    <a:pt x="6352794" y="81915"/>
                    <a:pt x="6352794" y="182880"/>
                  </a:cubicBezTo>
                  <a:lnTo>
                    <a:pt x="6352794" y="3090164"/>
                  </a:lnTo>
                  <a:cubicBezTo>
                    <a:pt x="6352794" y="3191129"/>
                    <a:pt x="6270879" y="3273044"/>
                    <a:pt x="6169914" y="3273044"/>
                  </a:cubicBezTo>
                  <a:lnTo>
                    <a:pt x="182880" y="3273044"/>
                  </a:lnTo>
                  <a:cubicBezTo>
                    <a:pt x="81915" y="3273044"/>
                    <a:pt x="0" y="3191129"/>
                    <a:pt x="0" y="3090164"/>
                  </a:cubicBezTo>
                  <a:close/>
                </a:path>
              </a:pathLst>
            </a:custGeom>
            <a:solidFill>
              <a:srgbClr val="FBFAFF"/>
            </a:solidFill>
          </p:spPr>
        </p:sp>
      </p:grpSp>
      <p:grpSp>
        <p:nvGrpSpPr>
          <p:cNvPr name="Group 12" id="12"/>
          <p:cNvGrpSpPr/>
          <p:nvPr/>
        </p:nvGrpSpPr>
        <p:grpSpPr>
          <a:xfrm rot="0">
            <a:off x="847134" y="3138040"/>
            <a:ext cx="4764586" cy="114300"/>
            <a:chOff x="0" y="0"/>
            <a:chExt cx="6352781" cy="152400"/>
          </a:xfrm>
        </p:grpSpPr>
        <p:sp>
          <p:nvSpPr>
            <p:cNvPr name="Freeform 13" id="13" descr="preencoded.png"/>
            <p:cNvSpPr/>
            <p:nvPr/>
          </p:nvSpPr>
          <p:spPr>
            <a:xfrm flipH="false" flipV="false" rot="0">
              <a:off x="0" y="0"/>
              <a:ext cx="6352794" cy="152400"/>
            </a:xfrm>
            <a:custGeom>
              <a:avLst/>
              <a:gdLst/>
              <a:ahLst/>
              <a:cxnLst/>
              <a:rect r="r" b="b" t="t" l="l"/>
              <a:pathLst>
                <a:path h="152400" w="6352794">
                  <a:moveTo>
                    <a:pt x="0" y="0"/>
                  </a:moveTo>
                  <a:lnTo>
                    <a:pt x="6352794" y="0"/>
                  </a:lnTo>
                  <a:lnTo>
                    <a:pt x="6352794" y="152400"/>
                  </a:lnTo>
                  <a:lnTo>
                    <a:pt x="0" y="152400"/>
                  </a:lnTo>
                  <a:lnTo>
                    <a:pt x="0" y="0"/>
                  </a:lnTo>
                  <a:close/>
                </a:path>
              </a:pathLst>
            </a:custGeom>
            <a:blipFill>
              <a:blip r:embed="rId6"/>
              <a:stretch>
                <a:fillRect l="0" t="-25" r="0" b="-16"/>
              </a:stretch>
            </a:blipFill>
          </p:spPr>
        </p:sp>
      </p:grpSp>
      <p:grpSp>
        <p:nvGrpSpPr>
          <p:cNvPr name="Group 14" id="14"/>
          <p:cNvGrpSpPr/>
          <p:nvPr/>
        </p:nvGrpSpPr>
        <p:grpSpPr>
          <a:xfrm rot="0">
            <a:off x="2866358" y="2803627"/>
            <a:ext cx="726129" cy="726129"/>
            <a:chOff x="0" y="0"/>
            <a:chExt cx="968172" cy="968172"/>
          </a:xfrm>
        </p:grpSpPr>
        <p:sp>
          <p:nvSpPr>
            <p:cNvPr name="Freeform 15" id="15" descr="preencoded.png"/>
            <p:cNvSpPr/>
            <p:nvPr/>
          </p:nvSpPr>
          <p:spPr>
            <a:xfrm flipH="false" flipV="false" rot="0">
              <a:off x="0" y="0"/>
              <a:ext cx="968121" cy="968121"/>
            </a:xfrm>
            <a:custGeom>
              <a:avLst/>
              <a:gdLst/>
              <a:ahLst/>
              <a:cxnLst/>
              <a:rect r="r" b="b" t="t" l="l"/>
              <a:pathLst>
                <a:path h="968121" w="968121">
                  <a:moveTo>
                    <a:pt x="0" y="0"/>
                  </a:moveTo>
                  <a:lnTo>
                    <a:pt x="968121" y="0"/>
                  </a:lnTo>
                  <a:lnTo>
                    <a:pt x="968121" y="968121"/>
                  </a:lnTo>
                  <a:lnTo>
                    <a:pt x="0" y="968121"/>
                  </a:lnTo>
                  <a:lnTo>
                    <a:pt x="0" y="0"/>
                  </a:lnTo>
                  <a:close/>
                </a:path>
              </a:pathLst>
            </a:custGeom>
            <a:blipFill>
              <a:blip r:embed="rId7"/>
              <a:stretch>
                <a:fillRect l="0" t="0" r="-5" b="-5"/>
              </a:stretch>
            </a:blipFill>
          </p:spPr>
        </p:sp>
      </p:grpSp>
      <p:grpSp>
        <p:nvGrpSpPr>
          <p:cNvPr name="Group 16" id="16"/>
          <p:cNvGrpSpPr/>
          <p:nvPr/>
        </p:nvGrpSpPr>
        <p:grpSpPr>
          <a:xfrm rot="0">
            <a:off x="5818289" y="3166615"/>
            <a:ext cx="4764586" cy="2454773"/>
            <a:chOff x="0" y="0"/>
            <a:chExt cx="6352781" cy="3273031"/>
          </a:xfrm>
        </p:grpSpPr>
        <p:sp>
          <p:nvSpPr>
            <p:cNvPr name="Freeform 17" id="17"/>
            <p:cNvSpPr/>
            <p:nvPr/>
          </p:nvSpPr>
          <p:spPr>
            <a:xfrm flipH="false" flipV="false" rot="0">
              <a:off x="0" y="0"/>
              <a:ext cx="6352794" cy="3273044"/>
            </a:xfrm>
            <a:custGeom>
              <a:avLst/>
              <a:gdLst/>
              <a:ahLst/>
              <a:cxnLst/>
              <a:rect r="r" b="b" t="t" l="l"/>
              <a:pathLst>
                <a:path h="3273044" w="6352794">
                  <a:moveTo>
                    <a:pt x="0" y="182880"/>
                  </a:moveTo>
                  <a:cubicBezTo>
                    <a:pt x="0" y="81915"/>
                    <a:pt x="81915" y="0"/>
                    <a:pt x="182880" y="0"/>
                  </a:cubicBezTo>
                  <a:lnTo>
                    <a:pt x="6169914" y="0"/>
                  </a:lnTo>
                  <a:cubicBezTo>
                    <a:pt x="6270879" y="0"/>
                    <a:pt x="6352794" y="81915"/>
                    <a:pt x="6352794" y="182880"/>
                  </a:cubicBezTo>
                  <a:lnTo>
                    <a:pt x="6352794" y="3090164"/>
                  </a:lnTo>
                  <a:cubicBezTo>
                    <a:pt x="6352794" y="3191129"/>
                    <a:pt x="6270879" y="3273044"/>
                    <a:pt x="6169914" y="3273044"/>
                  </a:cubicBezTo>
                  <a:lnTo>
                    <a:pt x="182880" y="3273044"/>
                  </a:lnTo>
                  <a:cubicBezTo>
                    <a:pt x="81915" y="3273044"/>
                    <a:pt x="0" y="3191129"/>
                    <a:pt x="0" y="3090164"/>
                  </a:cubicBezTo>
                  <a:close/>
                </a:path>
              </a:pathLst>
            </a:custGeom>
            <a:solidFill>
              <a:srgbClr val="FBFAFF"/>
            </a:solidFill>
          </p:spPr>
        </p:sp>
      </p:grpSp>
      <p:grpSp>
        <p:nvGrpSpPr>
          <p:cNvPr name="Group 18" id="18"/>
          <p:cNvGrpSpPr/>
          <p:nvPr/>
        </p:nvGrpSpPr>
        <p:grpSpPr>
          <a:xfrm rot="0">
            <a:off x="5818289" y="3138040"/>
            <a:ext cx="4764586" cy="114300"/>
            <a:chOff x="0" y="0"/>
            <a:chExt cx="6352781" cy="152400"/>
          </a:xfrm>
        </p:grpSpPr>
        <p:sp>
          <p:nvSpPr>
            <p:cNvPr name="Freeform 19" id="19" descr="preencoded.png"/>
            <p:cNvSpPr/>
            <p:nvPr/>
          </p:nvSpPr>
          <p:spPr>
            <a:xfrm flipH="false" flipV="false" rot="0">
              <a:off x="0" y="0"/>
              <a:ext cx="6352794" cy="152400"/>
            </a:xfrm>
            <a:custGeom>
              <a:avLst/>
              <a:gdLst/>
              <a:ahLst/>
              <a:cxnLst/>
              <a:rect r="r" b="b" t="t" l="l"/>
              <a:pathLst>
                <a:path h="152400" w="6352794">
                  <a:moveTo>
                    <a:pt x="0" y="0"/>
                  </a:moveTo>
                  <a:lnTo>
                    <a:pt x="6352794" y="0"/>
                  </a:lnTo>
                  <a:lnTo>
                    <a:pt x="6352794" y="152400"/>
                  </a:lnTo>
                  <a:lnTo>
                    <a:pt x="0" y="152400"/>
                  </a:lnTo>
                  <a:lnTo>
                    <a:pt x="0" y="0"/>
                  </a:lnTo>
                  <a:close/>
                </a:path>
              </a:pathLst>
            </a:custGeom>
            <a:blipFill>
              <a:blip r:embed="rId6"/>
              <a:stretch>
                <a:fillRect l="0" t="-25" r="0" b="-16"/>
              </a:stretch>
            </a:blipFill>
          </p:spPr>
        </p:sp>
      </p:grpSp>
      <p:grpSp>
        <p:nvGrpSpPr>
          <p:cNvPr name="Group 20" id="20"/>
          <p:cNvGrpSpPr/>
          <p:nvPr/>
        </p:nvGrpSpPr>
        <p:grpSpPr>
          <a:xfrm rot="0">
            <a:off x="7837513" y="2803627"/>
            <a:ext cx="726129" cy="726129"/>
            <a:chOff x="0" y="0"/>
            <a:chExt cx="968172" cy="968172"/>
          </a:xfrm>
        </p:grpSpPr>
        <p:sp>
          <p:nvSpPr>
            <p:cNvPr name="Freeform 21" id="21" descr="preencoded.png"/>
            <p:cNvSpPr/>
            <p:nvPr/>
          </p:nvSpPr>
          <p:spPr>
            <a:xfrm flipH="false" flipV="false" rot="0">
              <a:off x="0" y="0"/>
              <a:ext cx="968121" cy="968121"/>
            </a:xfrm>
            <a:custGeom>
              <a:avLst/>
              <a:gdLst/>
              <a:ahLst/>
              <a:cxnLst/>
              <a:rect r="r" b="b" t="t" l="l"/>
              <a:pathLst>
                <a:path h="968121" w="968121">
                  <a:moveTo>
                    <a:pt x="0" y="0"/>
                  </a:moveTo>
                  <a:lnTo>
                    <a:pt x="968121" y="0"/>
                  </a:lnTo>
                  <a:lnTo>
                    <a:pt x="968121" y="968121"/>
                  </a:lnTo>
                  <a:lnTo>
                    <a:pt x="0" y="968121"/>
                  </a:lnTo>
                  <a:lnTo>
                    <a:pt x="0" y="0"/>
                  </a:lnTo>
                  <a:close/>
                </a:path>
              </a:pathLst>
            </a:custGeom>
            <a:blipFill>
              <a:blip r:embed="rId7"/>
              <a:stretch>
                <a:fillRect l="0" t="0" r="-5" b="-5"/>
              </a:stretch>
            </a:blipFill>
          </p:spPr>
        </p:sp>
      </p:grpSp>
      <p:grpSp>
        <p:nvGrpSpPr>
          <p:cNvPr name="Group 22" id="22"/>
          <p:cNvGrpSpPr/>
          <p:nvPr/>
        </p:nvGrpSpPr>
        <p:grpSpPr>
          <a:xfrm rot="0">
            <a:off x="847134" y="6190955"/>
            <a:ext cx="9735741" cy="1736827"/>
            <a:chOff x="0" y="0"/>
            <a:chExt cx="12980988" cy="2315769"/>
          </a:xfrm>
        </p:grpSpPr>
        <p:sp>
          <p:nvSpPr>
            <p:cNvPr name="Freeform 23" id="23"/>
            <p:cNvSpPr/>
            <p:nvPr/>
          </p:nvSpPr>
          <p:spPr>
            <a:xfrm flipH="false" flipV="false" rot="0">
              <a:off x="0" y="0"/>
              <a:ext cx="12981051" cy="2315718"/>
            </a:xfrm>
            <a:custGeom>
              <a:avLst/>
              <a:gdLst/>
              <a:ahLst/>
              <a:cxnLst/>
              <a:rect r="r" b="b" t="t" l="l"/>
              <a:pathLst>
                <a:path h="2315718" w="12981051">
                  <a:moveTo>
                    <a:pt x="0" y="182880"/>
                  </a:moveTo>
                  <a:cubicBezTo>
                    <a:pt x="0" y="81915"/>
                    <a:pt x="81915" y="0"/>
                    <a:pt x="182880" y="0"/>
                  </a:cubicBezTo>
                  <a:lnTo>
                    <a:pt x="12798172" y="0"/>
                  </a:lnTo>
                  <a:cubicBezTo>
                    <a:pt x="12899136" y="0"/>
                    <a:pt x="12981051" y="81915"/>
                    <a:pt x="12981051" y="182880"/>
                  </a:cubicBezTo>
                  <a:lnTo>
                    <a:pt x="12981051" y="2132838"/>
                  </a:lnTo>
                  <a:cubicBezTo>
                    <a:pt x="12981051" y="2233803"/>
                    <a:pt x="12899136" y="2315718"/>
                    <a:pt x="12798172" y="2315718"/>
                  </a:cubicBezTo>
                  <a:lnTo>
                    <a:pt x="182880" y="2315718"/>
                  </a:lnTo>
                  <a:cubicBezTo>
                    <a:pt x="81915" y="2315718"/>
                    <a:pt x="0" y="2233803"/>
                    <a:pt x="0" y="2132838"/>
                  </a:cubicBezTo>
                  <a:close/>
                </a:path>
              </a:pathLst>
            </a:custGeom>
            <a:solidFill>
              <a:srgbClr val="FBFAFF"/>
            </a:solidFill>
          </p:spPr>
        </p:sp>
      </p:grpSp>
      <p:grpSp>
        <p:nvGrpSpPr>
          <p:cNvPr name="Group 24" id="24"/>
          <p:cNvGrpSpPr/>
          <p:nvPr/>
        </p:nvGrpSpPr>
        <p:grpSpPr>
          <a:xfrm rot="0">
            <a:off x="5351936" y="5827957"/>
            <a:ext cx="726129" cy="726129"/>
            <a:chOff x="0" y="0"/>
            <a:chExt cx="968172" cy="968172"/>
          </a:xfrm>
        </p:grpSpPr>
        <p:sp>
          <p:nvSpPr>
            <p:cNvPr name="Freeform 25" id="25" descr="preencoded.png"/>
            <p:cNvSpPr/>
            <p:nvPr/>
          </p:nvSpPr>
          <p:spPr>
            <a:xfrm flipH="false" flipV="false" rot="0">
              <a:off x="0" y="0"/>
              <a:ext cx="968121" cy="968121"/>
            </a:xfrm>
            <a:custGeom>
              <a:avLst/>
              <a:gdLst/>
              <a:ahLst/>
              <a:cxnLst/>
              <a:rect r="r" b="b" t="t" l="l"/>
              <a:pathLst>
                <a:path h="968121" w="968121">
                  <a:moveTo>
                    <a:pt x="0" y="0"/>
                  </a:moveTo>
                  <a:lnTo>
                    <a:pt x="968121" y="0"/>
                  </a:lnTo>
                  <a:lnTo>
                    <a:pt x="968121" y="968121"/>
                  </a:lnTo>
                  <a:lnTo>
                    <a:pt x="0" y="968121"/>
                  </a:lnTo>
                  <a:lnTo>
                    <a:pt x="0" y="0"/>
                  </a:lnTo>
                  <a:close/>
                </a:path>
              </a:pathLst>
            </a:custGeom>
            <a:blipFill>
              <a:blip r:embed="rId7"/>
              <a:stretch>
                <a:fillRect l="0" t="0" r="-5" b="-5"/>
              </a:stretch>
            </a:blipFill>
          </p:spPr>
        </p:sp>
      </p:grpSp>
      <p:sp>
        <p:nvSpPr>
          <p:cNvPr name="TextBox 26" id="26"/>
          <p:cNvSpPr txBox="true"/>
          <p:nvPr/>
        </p:nvSpPr>
        <p:spPr>
          <a:xfrm rot="0">
            <a:off x="847134" y="1030634"/>
            <a:ext cx="6051652" cy="775392"/>
          </a:xfrm>
          <a:prstGeom prst="rect">
            <a:avLst/>
          </a:prstGeom>
        </p:spPr>
        <p:txBody>
          <a:bodyPr anchor="t" rtlCol="false" tIns="0" lIns="0" bIns="0" rIns="0">
            <a:spAutoFit/>
          </a:bodyPr>
          <a:lstStyle/>
          <a:p>
            <a:pPr algn="l">
              <a:lnSpc>
                <a:spcPts val="5937"/>
              </a:lnSpc>
            </a:pPr>
            <a:r>
              <a:rPr lang="en-US" sz="4750">
                <a:solidFill>
                  <a:srgbClr val="403CCF"/>
                </a:solidFill>
                <a:latin typeface="Libre Baskerville"/>
                <a:ea typeface="Libre Baskerville"/>
                <a:cs typeface="Libre Baskerville"/>
                <a:sym typeface="Libre Baskerville"/>
              </a:rPr>
              <a:t>Pillar 2: Ethical AI</a:t>
            </a:r>
          </a:p>
        </p:txBody>
      </p:sp>
      <p:sp>
        <p:nvSpPr>
          <p:cNvPr name="TextBox 27" id="27"/>
          <p:cNvSpPr txBox="true"/>
          <p:nvPr/>
        </p:nvSpPr>
        <p:spPr>
          <a:xfrm rot="0">
            <a:off x="847134" y="1869577"/>
            <a:ext cx="7163095" cy="624183"/>
          </a:xfrm>
          <a:prstGeom prst="rect">
            <a:avLst/>
          </a:prstGeom>
        </p:spPr>
        <p:txBody>
          <a:bodyPr anchor="t" rtlCol="false" tIns="0" lIns="0" bIns="0" rIns="0">
            <a:spAutoFit/>
          </a:bodyPr>
          <a:lstStyle/>
          <a:p>
            <a:pPr algn="l">
              <a:lnSpc>
                <a:spcPts val="4750"/>
              </a:lnSpc>
            </a:pPr>
            <a:r>
              <a:rPr lang="en-US" sz="3749">
                <a:solidFill>
                  <a:srgbClr val="403CCF"/>
                </a:solidFill>
                <a:latin typeface="Libre Baskerville"/>
                <a:ea typeface="Libre Baskerville"/>
                <a:cs typeface="Libre Baskerville"/>
                <a:sym typeface="Libre Baskerville"/>
              </a:rPr>
              <a:t>Bias Audit &amp; Fairness Testing</a:t>
            </a:r>
          </a:p>
        </p:txBody>
      </p:sp>
      <p:sp>
        <p:nvSpPr>
          <p:cNvPr name="TextBox 28" id="28"/>
          <p:cNvSpPr txBox="true"/>
          <p:nvPr/>
        </p:nvSpPr>
        <p:spPr>
          <a:xfrm rot="0">
            <a:off x="3084243" y="2928042"/>
            <a:ext cx="290360" cy="420138"/>
          </a:xfrm>
          <a:prstGeom prst="rect">
            <a:avLst/>
          </a:prstGeom>
        </p:spPr>
        <p:txBody>
          <a:bodyPr anchor="t" rtlCol="false" tIns="0" lIns="0" bIns="0" rIns="0">
            <a:spAutoFit/>
          </a:bodyPr>
          <a:lstStyle/>
          <a:p>
            <a:pPr algn="l">
              <a:lnSpc>
                <a:spcPts val="3374"/>
              </a:lnSpc>
            </a:pPr>
            <a:r>
              <a:rPr lang="en-US" sz="2249">
                <a:solidFill>
                  <a:srgbClr val="FFFFFF"/>
                </a:solidFill>
                <a:latin typeface="Libre Baskerville"/>
                <a:ea typeface="Libre Baskerville"/>
                <a:cs typeface="Libre Baskerville"/>
                <a:sym typeface="Libre Baskerville"/>
              </a:rPr>
              <a:t>1</a:t>
            </a:r>
          </a:p>
        </p:txBody>
      </p:sp>
      <p:sp>
        <p:nvSpPr>
          <p:cNvPr name="TextBox 29" id="29"/>
          <p:cNvSpPr txBox="true"/>
          <p:nvPr/>
        </p:nvSpPr>
        <p:spPr>
          <a:xfrm rot="0">
            <a:off x="1117702" y="3771748"/>
            <a:ext cx="3574104" cy="378171"/>
          </a:xfrm>
          <a:prstGeom prst="rect">
            <a:avLst/>
          </a:prstGeom>
        </p:spPr>
        <p:txBody>
          <a:bodyPr anchor="t" rtlCol="false" tIns="0" lIns="0" bIns="0" rIns="0">
            <a:spAutoFit/>
          </a:bodyPr>
          <a:lstStyle/>
          <a:p>
            <a:pPr algn="l">
              <a:lnSpc>
                <a:spcPts val="2937"/>
              </a:lnSpc>
            </a:pPr>
            <a:r>
              <a:rPr lang="en-US" sz="2375">
                <a:solidFill>
                  <a:srgbClr val="49495A"/>
                </a:solidFill>
                <a:latin typeface="Libre Baskerville"/>
                <a:ea typeface="Libre Baskerville"/>
                <a:cs typeface="Libre Baskerville"/>
                <a:sym typeface="Libre Baskerville"/>
              </a:rPr>
              <a:t>Disparate Impact Ratio</a:t>
            </a:r>
          </a:p>
        </p:txBody>
      </p:sp>
      <p:sp>
        <p:nvSpPr>
          <p:cNvPr name="TextBox 30" id="30"/>
          <p:cNvSpPr txBox="true"/>
          <p:nvPr/>
        </p:nvSpPr>
        <p:spPr>
          <a:xfrm rot="0">
            <a:off x="8055397" y="2928042"/>
            <a:ext cx="290360" cy="420138"/>
          </a:xfrm>
          <a:prstGeom prst="rect">
            <a:avLst/>
          </a:prstGeom>
        </p:spPr>
        <p:txBody>
          <a:bodyPr anchor="t" rtlCol="false" tIns="0" lIns="0" bIns="0" rIns="0">
            <a:spAutoFit/>
          </a:bodyPr>
          <a:lstStyle/>
          <a:p>
            <a:pPr algn="l">
              <a:lnSpc>
                <a:spcPts val="3374"/>
              </a:lnSpc>
            </a:pPr>
            <a:r>
              <a:rPr lang="en-US" sz="2249">
                <a:solidFill>
                  <a:srgbClr val="FFFFFF"/>
                </a:solidFill>
                <a:latin typeface="Libre Baskerville"/>
                <a:ea typeface="Libre Baskerville"/>
                <a:cs typeface="Libre Baskerville"/>
                <a:sym typeface="Libre Baskerville"/>
              </a:rPr>
              <a:t>2</a:t>
            </a:r>
          </a:p>
        </p:txBody>
      </p:sp>
      <p:sp>
        <p:nvSpPr>
          <p:cNvPr name="TextBox 31" id="31"/>
          <p:cNvSpPr txBox="true"/>
          <p:nvPr/>
        </p:nvSpPr>
        <p:spPr>
          <a:xfrm rot="0">
            <a:off x="6088856" y="3771748"/>
            <a:ext cx="3221984" cy="378171"/>
          </a:xfrm>
          <a:prstGeom prst="rect">
            <a:avLst/>
          </a:prstGeom>
        </p:spPr>
        <p:txBody>
          <a:bodyPr anchor="t" rtlCol="false" tIns="0" lIns="0" bIns="0" rIns="0">
            <a:spAutoFit/>
          </a:bodyPr>
          <a:lstStyle/>
          <a:p>
            <a:pPr algn="l">
              <a:lnSpc>
                <a:spcPts val="2937"/>
              </a:lnSpc>
            </a:pPr>
            <a:r>
              <a:rPr lang="en-US" sz="2375">
                <a:solidFill>
                  <a:srgbClr val="49495A"/>
                </a:solidFill>
                <a:latin typeface="Libre Baskerville"/>
                <a:ea typeface="Libre Baskerville"/>
                <a:cs typeface="Libre Baskerville"/>
                <a:sym typeface="Libre Baskerville"/>
              </a:rPr>
              <a:t>Gender Parity Check</a:t>
            </a:r>
          </a:p>
        </p:txBody>
      </p:sp>
      <p:sp>
        <p:nvSpPr>
          <p:cNvPr name="TextBox 32" id="32"/>
          <p:cNvSpPr txBox="true"/>
          <p:nvPr/>
        </p:nvSpPr>
        <p:spPr>
          <a:xfrm rot="0">
            <a:off x="5569820" y="5952382"/>
            <a:ext cx="290360" cy="420138"/>
          </a:xfrm>
          <a:prstGeom prst="rect">
            <a:avLst/>
          </a:prstGeom>
        </p:spPr>
        <p:txBody>
          <a:bodyPr anchor="t" rtlCol="false" tIns="0" lIns="0" bIns="0" rIns="0">
            <a:spAutoFit/>
          </a:bodyPr>
          <a:lstStyle/>
          <a:p>
            <a:pPr algn="l">
              <a:lnSpc>
                <a:spcPts val="3374"/>
              </a:lnSpc>
            </a:pPr>
            <a:r>
              <a:rPr lang="en-US" sz="2249">
                <a:solidFill>
                  <a:srgbClr val="FFFFFF"/>
                </a:solidFill>
                <a:latin typeface="Libre Baskerville"/>
                <a:ea typeface="Libre Baskerville"/>
                <a:cs typeface="Libre Baskerville"/>
                <a:sym typeface="Libre Baskerville"/>
              </a:rPr>
              <a:t>3</a:t>
            </a:r>
          </a:p>
        </p:txBody>
      </p:sp>
      <p:sp>
        <p:nvSpPr>
          <p:cNvPr name="TextBox 33" id="33"/>
          <p:cNvSpPr txBox="true"/>
          <p:nvPr/>
        </p:nvSpPr>
        <p:spPr>
          <a:xfrm rot="0">
            <a:off x="1117702" y="6796088"/>
            <a:ext cx="3025826" cy="378171"/>
          </a:xfrm>
          <a:prstGeom prst="rect">
            <a:avLst/>
          </a:prstGeom>
        </p:spPr>
        <p:txBody>
          <a:bodyPr anchor="t" rtlCol="false" tIns="0" lIns="0" bIns="0" rIns="0">
            <a:spAutoFit/>
          </a:bodyPr>
          <a:lstStyle/>
          <a:p>
            <a:pPr algn="l">
              <a:lnSpc>
                <a:spcPts val="2937"/>
              </a:lnSpc>
            </a:pPr>
            <a:r>
              <a:rPr lang="en-US" sz="2375">
                <a:solidFill>
                  <a:srgbClr val="49495A"/>
                </a:solidFill>
                <a:latin typeface="Libre Baskerville"/>
                <a:ea typeface="Libre Baskerville"/>
                <a:cs typeface="Libre Baskerville"/>
                <a:sym typeface="Libre Baskerville"/>
              </a:rPr>
              <a:t>Ethnicity Analysis</a:t>
            </a:r>
          </a:p>
        </p:txBody>
      </p:sp>
      <p:sp>
        <p:nvSpPr>
          <p:cNvPr name="TextBox 34" id="34"/>
          <p:cNvSpPr txBox="true"/>
          <p:nvPr/>
        </p:nvSpPr>
        <p:spPr>
          <a:xfrm rot="0">
            <a:off x="1117702" y="7241086"/>
            <a:ext cx="9194597" cy="416128"/>
          </a:xfrm>
          <a:prstGeom prst="rect">
            <a:avLst/>
          </a:prstGeom>
        </p:spPr>
        <p:txBody>
          <a:bodyPr anchor="t" rtlCol="false" tIns="0" lIns="0" bIns="0" rIns="0">
            <a:spAutoFit/>
          </a:bodyPr>
          <a:lstStyle/>
          <a:p>
            <a:pPr algn="l">
              <a:lnSpc>
                <a:spcPts val="2812"/>
              </a:lnSpc>
            </a:pPr>
            <a:r>
              <a:rPr lang="en-US" sz="1874">
                <a:solidFill>
                  <a:srgbClr val="49495A"/>
                </a:solidFill>
                <a:latin typeface="Open Sans"/>
                <a:ea typeface="Open Sans"/>
                <a:cs typeface="Open Sans"/>
                <a:sym typeface="Open Sans"/>
              </a:rPr>
              <a:t>Verification that model treats all ethnic groups equitably</a:t>
            </a:r>
          </a:p>
        </p:txBody>
      </p:sp>
      <p:sp>
        <p:nvSpPr>
          <p:cNvPr name="TextBox 35" id="35"/>
          <p:cNvSpPr txBox="true"/>
          <p:nvPr/>
        </p:nvSpPr>
        <p:spPr>
          <a:xfrm rot="0">
            <a:off x="847134" y="8103098"/>
            <a:ext cx="9735741" cy="1134066"/>
          </a:xfrm>
          <a:prstGeom prst="rect">
            <a:avLst/>
          </a:prstGeom>
        </p:spPr>
        <p:txBody>
          <a:bodyPr anchor="t" rtlCol="false" tIns="0" lIns="0" bIns="0" rIns="0">
            <a:spAutoFit/>
          </a:bodyPr>
          <a:lstStyle/>
          <a:p>
            <a:pPr algn="l">
              <a:lnSpc>
                <a:spcPts val="2812"/>
              </a:lnSpc>
            </a:pPr>
            <a:r>
              <a:rPr lang="en-US" sz="1874" b="true">
                <a:solidFill>
                  <a:srgbClr val="49495A"/>
                </a:solidFill>
                <a:latin typeface="Open Sans Bold"/>
                <a:ea typeface="Open Sans Bold"/>
                <a:cs typeface="Open Sans Bold"/>
                <a:sym typeface="Open Sans Bold"/>
              </a:rPr>
              <a:t>Our Philosophy:</a:t>
            </a:r>
            <a:r>
              <a:rPr lang="en-US" sz="1874">
                <a:solidFill>
                  <a:srgbClr val="49495A"/>
                </a:solidFill>
                <a:latin typeface="Open Sans"/>
                <a:ea typeface="Open Sans"/>
                <a:cs typeface="Open Sans"/>
                <a:sym typeface="Open Sans"/>
              </a:rPr>
              <a:t> We audited the model to ensure it predicts based on professional merit, not protected attributes. </a:t>
            </a:r>
            <a:r>
              <a:rPr lang="en-US" sz="1874">
                <a:solidFill>
                  <a:srgbClr val="403CCF"/>
                </a:solidFill>
                <a:latin typeface="Open Sans"/>
                <a:ea typeface="Open Sans"/>
                <a:cs typeface="Open Sans"/>
                <a:sym typeface="Open Sans"/>
              </a:rPr>
              <a:t>Fairness isn't an afterthought—it's engineered from the start.</a:t>
            </a:r>
          </a:p>
        </p:txBody>
      </p:sp>
      <p:grpSp>
        <p:nvGrpSpPr>
          <p:cNvPr name="Group 36" id="36"/>
          <p:cNvGrpSpPr/>
          <p:nvPr/>
        </p:nvGrpSpPr>
        <p:grpSpPr>
          <a:xfrm rot="0">
            <a:off x="2270572" y="4157815"/>
            <a:ext cx="7095434" cy="2396271"/>
            <a:chOff x="0" y="0"/>
            <a:chExt cx="9460578" cy="3195027"/>
          </a:xfrm>
        </p:grpSpPr>
        <p:pic>
          <p:nvPicPr>
            <p:cNvPr name="Picture 37" id="37"/>
            <p:cNvPicPr>
              <a:picLocks noChangeAspect="true"/>
            </p:cNvPicPr>
            <p:nvPr/>
          </p:nvPicPr>
          <p:blipFill>
            <a:blip r:embed="rId8"/>
            <a:srcRect l="0" t="431" r="5988" b="431"/>
            <a:stretch>
              <a:fillRect/>
            </a:stretch>
          </p:blipFill>
          <p:spPr>
            <a:xfrm flipH="false" flipV="false">
              <a:off x="0" y="0"/>
              <a:ext cx="9460578" cy="3195027"/>
            </a:xfrm>
            <a:prstGeom prst="rect">
              <a:avLst/>
            </a:prstGeom>
          </p:spPr>
        </p:pic>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sp>
        <p:nvSpPr>
          <p:cNvPr name="TextBox 6" id="6"/>
          <p:cNvSpPr txBox="true"/>
          <p:nvPr/>
        </p:nvSpPr>
        <p:spPr>
          <a:xfrm rot="0">
            <a:off x="992238" y="2721026"/>
            <a:ext cx="10617403" cy="914552"/>
          </a:xfrm>
          <a:prstGeom prst="rect">
            <a:avLst/>
          </a:prstGeom>
        </p:spPr>
        <p:txBody>
          <a:bodyPr anchor="t" rtlCol="false" tIns="0" lIns="0" bIns="0" rIns="0">
            <a:spAutoFit/>
          </a:bodyPr>
          <a:lstStyle/>
          <a:p>
            <a:pPr algn="l">
              <a:lnSpc>
                <a:spcPts val="6937"/>
              </a:lnSpc>
            </a:pPr>
            <a:r>
              <a:rPr lang="en-US" sz="5562">
                <a:solidFill>
                  <a:srgbClr val="403CCF"/>
                </a:solidFill>
                <a:latin typeface="Libre Baskerville"/>
                <a:ea typeface="Libre Baskerville"/>
                <a:cs typeface="Libre Baskerville"/>
                <a:sym typeface="Libre Baskerville"/>
              </a:rPr>
              <a:t>Compliance &amp; Responsibility</a:t>
            </a:r>
          </a:p>
        </p:txBody>
      </p:sp>
      <p:sp>
        <p:nvSpPr>
          <p:cNvPr name="Freeform 7" id="7" descr="preencoded.png"/>
          <p:cNvSpPr/>
          <p:nvPr/>
        </p:nvSpPr>
        <p:spPr>
          <a:xfrm flipH="false" flipV="false" rot="0">
            <a:off x="992238" y="4202611"/>
            <a:ext cx="708717" cy="708717"/>
          </a:xfrm>
          <a:custGeom>
            <a:avLst/>
            <a:gdLst/>
            <a:ahLst/>
            <a:cxnLst/>
            <a:rect r="r" b="b" t="t" l="l"/>
            <a:pathLst>
              <a:path h="708717" w="708717">
                <a:moveTo>
                  <a:pt x="0" y="0"/>
                </a:moveTo>
                <a:lnTo>
                  <a:pt x="708717" y="0"/>
                </a:lnTo>
                <a:lnTo>
                  <a:pt x="708717" y="708717"/>
                </a:lnTo>
                <a:lnTo>
                  <a:pt x="0" y="708717"/>
                </a:lnTo>
                <a:lnTo>
                  <a:pt x="0" y="0"/>
                </a:lnTo>
                <a:close/>
              </a:path>
            </a:pathLst>
          </a:custGeom>
          <a:blipFill>
            <a:blip r:embed="rId3">
              <a:extLst>
                <a:ext uri="{96DAC541-7B7A-43D3-8B79-37D633B846F1}">
                  <asvg:svgBlip xmlns:asvg="http://schemas.microsoft.com/office/drawing/2016/SVG/main" r:embed="rId4"/>
                </a:ext>
              </a:extLst>
            </a:blip>
            <a:stretch>
              <a:fillRect l="0" t="-9333" r="0" b="-9332"/>
            </a:stretch>
          </a:blipFill>
        </p:spPr>
      </p:sp>
      <p:sp>
        <p:nvSpPr>
          <p:cNvPr name="TextBox 8" id="8"/>
          <p:cNvSpPr txBox="true"/>
          <p:nvPr/>
        </p:nvSpPr>
        <p:spPr>
          <a:xfrm rot="0">
            <a:off x="2055314" y="4183561"/>
            <a:ext cx="3544043" cy="461962"/>
          </a:xfrm>
          <a:prstGeom prst="rect">
            <a:avLst/>
          </a:prstGeom>
        </p:spPr>
        <p:txBody>
          <a:bodyPr anchor="t" rtlCol="false" tIns="0" lIns="0" bIns="0" rIns="0">
            <a:spAutoFit/>
          </a:bodyPr>
          <a:lstStyle/>
          <a:p>
            <a:pPr algn="l">
              <a:lnSpc>
                <a:spcPts val="3437"/>
              </a:lnSpc>
            </a:pPr>
            <a:r>
              <a:rPr lang="en-US" sz="2750">
                <a:solidFill>
                  <a:srgbClr val="49495A"/>
                </a:solidFill>
                <a:latin typeface="Libre Baskerville"/>
                <a:ea typeface="Libre Baskerville"/>
                <a:cs typeface="Libre Baskerville"/>
                <a:sym typeface="Libre Baskerville"/>
              </a:rPr>
              <a:t>GDPR-Compliant</a:t>
            </a:r>
          </a:p>
        </p:txBody>
      </p:sp>
      <p:sp>
        <p:nvSpPr>
          <p:cNvPr name="TextBox 9" id="9"/>
          <p:cNvSpPr txBox="true"/>
          <p:nvPr/>
        </p:nvSpPr>
        <p:spPr>
          <a:xfrm rot="0">
            <a:off x="2055314" y="4729905"/>
            <a:ext cx="4135193" cy="2353866"/>
          </a:xfrm>
          <a:prstGeom prst="rect">
            <a:avLst/>
          </a:prstGeom>
        </p:spPr>
        <p:txBody>
          <a:bodyPr anchor="t" rtlCol="false" tIns="0" lIns="0" bIns="0" rIns="0">
            <a:spAutoFit/>
          </a:bodyPr>
          <a:lstStyle/>
          <a:p>
            <a:pPr algn="l">
              <a:lnSpc>
                <a:spcPts val="3562"/>
              </a:lnSpc>
            </a:pPr>
            <a:r>
              <a:rPr lang="en-US" sz="2187">
                <a:solidFill>
                  <a:srgbClr val="49495A"/>
                </a:solidFill>
                <a:latin typeface="Open Sans"/>
                <a:ea typeface="Open Sans"/>
                <a:cs typeface="Open Sans"/>
                <a:sym typeface="Open Sans"/>
              </a:rPr>
              <a:t>Anonymisation of names, dates of birth, and employee IDs ensures privacy-by-design from data ingestion through to model predictions</a:t>
            </a:r>
          </a:p>
        </p:txBody>
      </p:sp>
      <p:sp>
        <p:nvSpPr>
          <p:cNvPr name="Freeform 10" id="10" descr="preencoded.png"/>
          <p:cNvSpPr/>
          <p:nvPr/>
        </p:nvSpPr>
        <p:spPr>
          <a:xfrm flipH="false" flipV="false" rot="0">
            <a:off x="6544866" y="4202611"/>
            <a:ext cx="708717" cy="708717"/>
          </a:xfrm>
          <a:custGeom>
            <a:avLst/>
            <a:gdLst/>
            <a:ahLst/>
            <a:cxnLst/>
            <a:rect r="r" b="b" t="t" l="l"/>
            <a:pathLst>
              <a:path h="708717" w="708717">
                <a:moveTo>
                  <a:pt x="0" y="0"/>
                </a:moveTo>
                <a:lnTo>
                  <a:pt x="708717" y="0"/>
                </a:lnTo>
                <a:lnTo>
                  <a:pt x="708717" y="708717"/>
                </a:lnTo>
                <a:lnTo>
                  <a:pt x="0" y="708717"/>
                </a:lnTo>
                <a:lnTo>
                  <a:pt x="0" y="0"/>
                </a:lnTo>
                <a:close/>
              </a:path>
            </a:pathLst>
          </a:custGeom>
          <a:blipFill>
            <a:blip r:embed="rId5">
              <a:extLst>
                <a:ext uri="{96DAC541-7B7A-43D3-8B79-37D633B846F1}">
                  <asvg:svgBlip xmlns:asvg="http://schemas.microsoft.com/office/drawing/2016/SVG/main" r:embed="rId6"/>
                </a:ext>
              </a:extLst>
            </a:blip>
            <a:stretch>
              <a:fillRect l="0" t="-20666" r="0" b="-20667"/>
            </a:stretch>
          </a:blipFill>
        </p:spPr>
      </p:sp>
      <p:sp>
        <p:nvSpPr>
          <p:cNvPr name="TextBox 11" id="11"/>
          <p:cNvSpPr txBox="true"/>
          <p:nvPr/>
        </p:nvSpPr>
        <p:spPr>
          <a:xfrm rot="0">
            <a:off x="7607941" y="4183561"/>
            <a:ext cx="4135193" cy="904875"/>
          </a:xfrm>
          <a:prstGeom prst="rect">
            <a:avLst/>
          </a:prstGeom>
        </p:spPr>
        <p:txBody>
          <a:bodyPr anchor="t" rtlCol="false" tIns="0" lIns="0" bIns="0" rIns="0">
            <a:spAutoFit/>
          </a:bodyPr>
          <a:lstStyle/>
          <a:p>
            <a:pPr algn="l">
              <a:lnSpc>
                <a:spcPts val="3437"/>
              </a:lnSpc>
            </a:pPr>
            <a:r>
              <a:rPr lang="en-US" sz="2750">
                <a:solidFill>
                  <a:srgbClr val="49495A"/>
                </a:solidFill>
                <a:latin typeface="Libre Baskerville"/>
                <a:ea typeface="Libre Baskerville"/>
                <a:cs typeface="Libre Baskerville"/>
                <a:sym typeface="Libre Baskerville"/>
              </a:rPr>
              <a:t>Computational Frugality</a:t>
            </a:r>
          </a:p>
        </p:txBody>
      </p:sp>
      <p:sp>
        <p:nvSpPr>
          <p:cNvPr name="TextBox 12" id="12"/>
          <p:cNvSpPr txBox="true"/>
          <p:nvPr/>
        </p:nvSpPr>
        <p:spPr>
          <a:xfrm rot="0">
            <a:off x="7607941" y="5172818"/>
            <a:ext cx="4135193" cy="2353866"/>
          </a:xfrm>
          <a:prstGeom prst="rect">
            <a:avLst/>
          </a:prstGeom>
        </p:spPr>
        <p:txBody>
          <a:bodyPr anchor="t" rtlCol="false" tIns="0" lIns="0" bIns="0" rIns="0">
            <a:spAutoFit/>
          </a:bodyPr>
          <a:lstStyle/>
          <a:p>
            <a:pPr algn="l">
              <a:lnSpc>
                <a:spcPts val="3562"/>
              </a:lnSpc>
            </a:pPr>
            <a:r>
              <a:rPr lang="en-US" sz="2187">
                <a:solidFill>
                  <a:srgbClr val="49495A"/>
                </a:solidFill>
                <a:latin typeface="Open Sans"/>
                <a:ea typeface="Open Sans"/>
                <a:cs typeface="Open Sans"/>
                <a:sym typeface="Open Sans"/>
              </a:rPr>
              <a:t>Optimised tabular model (XGBoost) delivers predictive power without resource-heavy LLM infrastructure—sustainable and accessible</a:t>
            </a:r>
          </a:p>
        </p:txBody>
      </p:sp>
      <p:sp>
        <p:nvSpPr>
          <p:cNvPr name="Freeform 13" id="13" descr="preencoded.png"/>
          <p:cNvSpPr/>
          <p:nvPr/>
        </p:nvSpPr>
        <p:spPr>
          <a:xfrm flipH="false" flipV="false" rot="0">
            <a:off x="12097493" y="4202611"/>
            <a:ext cx="708717" cy="708717"/>
          </a:xfrm>
          <a:custGeom>
            <a:avLst/>
            <a:gdLst/>
            <a:ahLst/>
            <a:cxnLst/>
            <a:rect r="r" b="b" t="t" l="l"/>
            <a:pathLst>
              <a:path h="708717" w="708717">
                <a:moveTo>
                  <a:pt x="0" y="0"/>
                </a:moveTo>
                <a:lnTo>
                  <a:pt x="708717" y="0"/>
                </a:lnTo>
                <a:lnTo>
                  <a:pt x="708717" y="708717"/>
                </a:lnTo>
                <a:lnTo>
                  <a:pt x="0" y="708717"/>
                </a:lnTo>
                <a:lnTo>
                  <a:pt x="0" y="0"/>
                </a:lnTo>
                <a:close/>
              </a:path>
            </a:pathLst>
          </a:custGeom>
          <a:blipFill>
            <a:blip r:embed="rId7">
              <a:extLst>
                <a:ext uri="{96DAC541-7B7A-43D3-8B79-37D633B846F1}">
                  <asvg:svgBlip xmlns:asvg="http://schemas.microsoft.com/office/drawing/2016/SVG/main" r:embed="rId8"/>
                </a:ext>
              </a:extLst>
            </a:blip>
            <a:stretch>
              <a:fillRect l="0" t="-5332" r="0" b="-5334"/>
            </a:stretch>
          </a:blipFill>
        </p:spPr>
      </p:sp>
      <p:sp>
        <p:nvSpPr>
          <p:cNvPr name="TextBox 14" id="14"/>
          <p:cNvSpPr txBox="true"/>
          <p:nvPr/>
        </p:nvSpPr>
        <p:spPr>
          <a:xfrm rot="0">
            <a:off x="13160578" y="4183561"/>
            <a:ext cx="3773091" cy="461962"/>
          </a:xfrm>
          <a:prstGeom prst="rect">
            <a:avLst/>
          </a:prstGeom>
        </p:spPr>
        <p:txBody>
          <a:bodyPr anchor="t" rtlCol="false" tIns="0" lIns="0" bIns="0" rIns="0">
            <a:spAutoFit/>
          </a:bodyPr>
          <a:lstStyle/>
          <a:p>
            <a:pPr algn="l">
              <a:lnSpc>
                <a:spcPts val="3437"/>
              </a:lnSpc>
            </a:pPr>
            <a:r>
              <a:rPr lang="en-US" sz="2750">
                <a:solidFill>
                  <a:srgbClr val="49495A"/>
                </a:solidFill>
                <a:latin typeface="Libre Baskerville"/>
                <a:ea typeface="Libre Baskerville"/>
                <a:cs typeface="Libre Baskerville"/>
                <a:sym typeface="Libre Baskerville"/>
              </a:rPr>
              <a:t>Human-in-the-Loop</a:t>
            </a:r>
          </a:p>
        </p:txBody>
      </p:sp>
      <p:sp>
        <p:nvSpPr>
          <p:cNvPr name="TextBox 15" id="15"/>
          <p:cNvSpPr txBox="true"/>
          <p:nvPr/>
        </p:nvSpPr>
        <p:spPr>
          <a:xfrm rot="0">
            <a:off x="13160578" y="4729905"/>
            <a:ext cx="4135193" cy="2807494"/>
          </a:xfrm>
          <a:prstGeom prst="rect">
            <a:avLst/>
          </a:prstGeom>
        </p:spPr>
        <p:txBody>
          <a:bodyPr anchor="t" rtlCol="false" tIns="0" lIns="0" bIns="0" rIns="0">
            <a:spAutoFit/>
          </a:bodyPr>
          <a:lstStyle/>
          <a:p>
            <a:pPr algn="l">
              <a:lnSpc>
                <a:spcPts val="3562"/>
              </a:lnSpc>
            </a:pPr>
            <a:r>
              <a:rPr lang="en-US" sz="2187">
                <a:solidFill>
                  <a:srgbClr val="49495A"/>
                </a:solidFill>
                <a:latin typeface="Open Sans"/>
                <a:ea typeface="Open Sans"/>
                <a:cs typeface="Open Sans"/>
                <a:sym typeface="Open Sans"/>
              </a:rPr>
              <a:t>SHAP explanations ensure HR managers have final authority and can override AI recommendations—technology assists, humans decide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4F0F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BFAFF"/>
            </a:solidFill>
          </p:spPr>
        </p:sp>
      </p:grpSp>
      <p:sp>
        <p:nvSpPr>
          <p:cNvPr name="TextBox 6" id="6"/>
          <p:cNvSpPr txBox="true"/>
          <p:nvPr/>
        </p:nvSpPr>
        <p:spPr>
          <a:xfrm rot="0">
            <a:off x="977798" y="761409"/>
            <a:ext cx="7351214" cy="911123"/>
          </a:xfrm>
          <a:prstGeom prst="rect">
            <a:avLst/>
          </a:prstGeom>
        </p:spPr>
        <p:txBody>
          <a:bodyPr anchor="t" rtlCol="false" tIns="0" lIns="0" bIns="0" rIns="0">
            <a:spAutoFit/>
          </a:bodyPr>
          <a:lstStyle/>
          <a:p>
            <a:pPr algn="l">
              <a:lnSpc>
                <a:spcPts val="6812"/>
              </a:lnSpc>
            </a:pPr>
            <a:r>
              <a:rPr lang="en-US" sz="5437">
                <a:solidFill>
                  <a:srgbClr val="403CCF"/>
                </a:solidFill>
                <a:latin typeface="Libre Baskerville"/>
                <a:ea typeface="Libre Baskerville"/>
                <a:cs typeface="Libre Baskerville"/>
                <a:sym typeface="Libre Baskerville"/>
              </a:rPr>
              <a:t>Impact &amp; Next Steps</a:t>
            </a:r>
          </a:p>
        </p:txBody>
      </p:sp>
      <p:grpSp>
        <p:nvGrpSpPr>
          <p:cNvPr name="Group 7" id="7"/>
          <p:cNvGrpSpPr/>
          <p:nvPr/>
        </p:nvGrpSpPr>
        <p:grpSpPr>
          <a:xfrm rot="0">
            <a:off x="977798" y="2223049"/>
            <a:ext cx="5444128" cy="1117549"/>
            <a:chOff x="0" y="0"/>
            <a:chExt cx="7258837" cy="1490066"/>
          </a:xfrm>
        </p:grpSpPr>
        <p:sp>
          <p:nvSpPr>
            <p:cNvPr name="Freeform 8" id="8" descr="preencoded.png"/>
            <p:cNvSpPr/>
            <p:nvPr/>
          </p:nvSpPr>
          <p:spPr>
            <a:xfrm flipH="false" flipV="false" rot="0">
              <a:off x="0" y="0"/>
              <a:ext cx="7258812" cy="1490091"/>
            </a:xfrm>
            <a:custGeom>
              <a:avLst/>
              <a:gdLst/>
              <a:ahLst/>
              <a:cxnLst/>
              <a:rect r="r" b="b" t="t" l="l"/>
              <a:pathLst>
                <a:path h="1490091" w="7258812">
                  <a:moveTo>
                    <a:pt x="0" y="0"/>
                  </a:moveTo>
                  <a:lnTo>
                    <a:pt x="7258812" y="0"/>
                  </a:lnTo>
                  <a:lnTo>
                    <a:pt x="7258812" y="1490091"/>
                  </a:lnTo>
                  <a:lnTo>
                    <a:pt x="0" y="1490091"/>
                  </a:lnTo>
                  <a:lnTo>
                    <a:pt x="0" y="0"/>
                  </a:lnTo>
                  <a:close/>
                </a:path>
              </a:pathLst>
            </a:custGeom>
            <a:blipFill>
              <a:blip r:embed="rId3"/>
              <a:stretch>
                <a:fillRect l="-178" t="0" r="-178" b="1"/>
              </a:stretch>
            </a:blipFill>
          </p:spPr>
        </p:sp>
      </p:grpSp>
      <p:sp>
        <p:nvSpPr>
          <p:cNvPr name="TextBox 9" id="9"/>
          <p:cNvSpPr txBox="true"/>
          <p:nvPr/>
        </p:nvSpPr>
        <p:spPr>
          <a:xfrm rot="0">
            <a:off x="1257148" y="3606251"/>
            <a:ext cx="3492398" cy="446037"/>
          </a:xfrm>
          <a:prstGeom prst="rect">
            <a:avLst/>
          </a:prstGeom>
        </p:spPr>
        <p:txBody>
          <a:bodyPr anchor="t" rtlCol="false" tIns="0" lIns="0" bIns="0" rIns="0">
            <a:spAutoFit/>
          </a:bodyPr>
          <a:lstStyle/>
          <a:p>
            <a:pPr algn="l">
              <a:lnSpc>
                <a:spcPts val="3374"/>
              </a:lnSpc>
            </a:pPr>
            <a:r>
              <a:rPr lang="en-US" sz="2687">
                <a:solidFill>
                  <a:srgbClr val="49495A"/>
                </a:solidFill>
                <a:latin typeface="Libre Baskerville"/>
                <a:ea typeface="Libre Baskerville"/>
                <a:cs typeface="Libre Baskerville"/>
                <a:sym typeface="Libre Baskerville"/>
              </a:rPr>
              <a:t>Lower Turnover</a:t>
            </a:r>
          </a:p>
        </p:txBody>
      </p:sp>
      <p:sp>
        <p:nvSpPr>
          <p:cNvPr name="TextBox 10" id="10"/>
          <p:cNvSpPr txBox="true"/>
          <p:nvPr/>
        </p:nvSpPr>
        <p:spPr>
          <a:xfrm rot="0">
            <a:off x="1257148" y="4141146"/>
            <a:ext cx="4885430" cy="963511"/>
          </a:xfrm>
          <a:prstGeom prst="rect">
            <a:avLst/>
          </a:prstGeom>
        </p:spPr>
        <p:txBody>
          <a:bodyPr anchor="t" rtlCol="false" tIns="0" lIns="0" bIns="0" rIns="0">
            <a:spAutoFit/>
          </a:bodyPr>
          <a:lstStyle/>
          <a:p>
            <a:pPr algn="l">
              <a:lnSpc>
                <a:spcPts val="3437"/>
              </a:lnSpc>
            </a:pPr>
            <a:r>
              <a:rPr lang="en-US" sz="2187">
                <a:solidFill>
                  <a:srgbClr val="49495A"/>
                </a:solidFill>
                <a:latin typeface="Open Sans"/>
                <a:ea typeface="Open Sans"/>
                <a:cs typeface="Open Sans"/>
                <a:sym typeface="Open Sans"/>
              </a:rPr>
              <a:t>Predictive insights enable proactive retention before resignation</a:t>
            </a:r>
          </a:p>
        </p:txBody>
      </p:sp>
      <p:grpSp>
        <p:nvGrpSpPr>
          <p:cNvPr name="Group 11" id="11"/>
          <p:cNvGrpSpPr/>
          <p:nvPr/>
        </p:nvGrpSpPr>
        <p:grpSpPr>
          <a:xfrm rot="0">
            <a:off x="6421936" y="2223049"/>
            <a:ext cx="5444128" cy="1117549"/>
            <a:chOff x="0" y="0"/>
            <a:chExt cx="7258837" cy="1490066"/>
          </a:xfrm>
        </p:grpSpPr>
        <p:sp>
          <p:nvSpPr>
            <p:cNvPr name="Freeform 12" id="12" descr="preencoded.png"/>
            <p:cNvSpPr/>
            <p:nvPr/>
          </p:nvSpPr>
          <p:spPr>
            <a:xfrm flipH="false" flipV="false" rot="0">
              <a:off x="0" y="0"/>
              <a:ext cx="7258812" cy="1490091"/>
            </a:xfrm>
            <a:custGeom>
              <a:avLst/>
              <a:gdLst/>
              <a:ahLst/>
              <a:cxnLst/>
              <a:rect r="r" b="b" t="t" l="l"/>
              <a:pathLst>
                <a:path h="1490091" w="7258812">
                  <a:moveTo>
                    <a:pt x="0" y="0"/>
                  </a:moveTo>
                  <a:lnTo>
                    <a:pt x="7258812" y="0"/>
                  </a:lnTo>
                  <a:lnTo>
                    <a:pt x="7258812" y="1490091"/>
                  </a:lnTo>
                  <a:lnTo>
                    <a:pt x="0" y="1490091"/>
                  </a:lnTo>
                  <a:lnTo>
                    <a:pt x="0" y="0"/>
                  </a:lnTo>
                  <a:close/>
                </a:path>
              </a:pathLst>
            </a:custGeom>
            <a:blipFill>
              <a:blip r:embed="rId4"/>
              <a:stretch>
                <a:fillRect l="-178" t="0" r="-178" b="1"/>
              </a:stretch>
            </a:blipFill>
          </p:spPr>
        </p:sp>
      </p:grpSp>
      <p:sp>
        <p:nvSpPr>
          <p:cNvPr name="TextBox 13" id="13"/>
          <p:cNvSpPr txBox="true"/>
          <p:nvPr/>
        </p:nvSpPr>
        <p:spPr>
          <a:xfrm rot="0">
            <a:off x="6701285" y="3606251"/>
            <a:ext cx="3492398" cy="446037"/>
          </a:xfrm>
          <a:prstGeom prst="rect">
            <a:avLst/>
          </a:prstGeom>
        </p:spPr>
        <p:txBody>
          <a:bodyPr anchor="t" rtlCol="false" tIns="0" lIns="0" bIns="0" rIns="0">
            <a:spAutoFit/>
          </a:bodyPr>
          <a:lstStyle/>
          <a:p>
            <a:pPr algn="l">
              <a:lnSpc>
                <a:spcPts val="3374"/>
              </a:lnSpc>
            </a:pPr>
            <a:r>
              <a:rPr lang="en-US" sz="2687">
                <a:solidFill>
                  <a:srgbClr val="49495A"/>
                </a:solidFill>
                <a:latin typeface="Libre Baskerville"/>
                <a:ea typeface="Libre Baskerville"/>
                <a:cs typeface="Libre Baskerville"/>
                <a:sym typeface="Libre Baskerville"/>
              </a:rPr>
              <a:t>Higher Morale</a:t>
            </a:r>
          </a:p>
        </p:txBody>
      </p:sp>
      <p:sp>
        <p:nvSpPr>
          <p:cNvPr name="TextBox 14" id="14"/>
          <p:cNvSpPr txBox="true"/>
          <p:nvPr/>
        </p:nvSpPr>
        <p:spPr>
          <a:xfrm rot="0">
            <a:off x="6701285" y="4141146"/>
            <a:ext cx="4885430" cy="1407166"/>
          </a:xfrm>
          <a:prstGeom prst="rect">
            <a:avLst/>
          </a:prstGeom>
        </p:spPr>
        <p:txBody>
          <a:bodyPr anchor="t" rtlCol="false" tIns="0" lIns="0" bIns="0" rIns="0">
            <a:spAutoFit/>
          </a:bodyPr>
          <a:lstStyle/>
          <a:p>
            <a:pPr algn="l">
              <a:lnSpc>
                <a:spcPts val="3437"/>
              </a:lnSpc>
            </a:pPr>
            <a:r>
              <a:rPr lang="en-US" sz="2187">
                <a:solidFill>
                  <a:srgbClr val="49495A"/>
                </a:solidFill>
                <a:latin typeface="Open Sans"/>
                <a:ea typeface="Open Sans"/>
                <a:cs typeface="Open Sans"/>
                <a:sym typeface="Open Sans"/>
              </a:rPr>
              <a:t>Data-driven support demonstrates organisational commitment to employees</a:t>
            </a:r>
          </a:p>
        </p:txBody>
      </p:sp>
      <p:grpSp>
        <p:nvGrpSpPr>
          <p:cNvPr name="Group 15" id="15"/>
          <p:cNvGrpSpPr/>
          <p:nvPr/>
        </p:nvGrpSpPr>
        <p:grpSpPr>
          <a:xfrm rot="0">
            <a:off x="11866064" y="2223049"/>
            <a:ext cx="5444128" cy="1117549"/>
            <a:chOff x="0" y="0"/>
            <a:chExt cx="7258837" cy="1490066"/>
          </a:xfrm>
        </p:grpSpPr>
        <p:sp>
          <p:nvSpPr>
            <p:cNvPr name="Freeform 16" id="16" descr="preencoded.png"/>
            <p:cNvSpPr/>
            <p:nvPr/>
          </p:nvSpPr>
          <p:spPr>
            <a:xfrm flipH="false" flipV="false" rot="0">
              <a:off x="0" y="0"/>
              <a:ext cx="7258812" cy="1490091"/>
            </a:xfrm>
            <a:custGeom>
              <a:avLst/>
              <a:gdLst/>
              <a:ahLst/>
              <a:cxnLst/>
              <a:rect r="r" b="b" t="t" l="l"/>
              <a:pathLst>
                <a:path h="1490091" w="7258812">
                  <a:moveTo>
                    <a:pt x="0" y="0"/>
                  </a:moveTo>
                  <a:lnTo>
                    <a:pt x="7258812" y="0"/>
                  </a:lnTo>
                  <a:lnTo>
                    <a:pt x="7258812" y="1490091"/>
                  </a:lnTo>
                  <a:lnTo>
                    <a:pt x="0" y="1490091"/>
                  </a:lnTo>
                  <a:lnTo>
                    <a:pt x="0" y="0"/>
                  </a:lnTo>
                  <a:close/>
                </a:path>
              </a:pathLst>
            </a:custGeom>
            <a:blipFill>
              <a:blip r:embed="rId5"/>
              <a:stretch>
                <a:fillRect l="-178" t="0" r="-178" b="1"/>
              </a:stretch>
            </a:blipFill>
          </p:spPr>
        </p:sp>
      </p:grpSp>
      <p:sp>
        <p:nvSpPr>
          <p:cNvPr name="TextBox 17" id="17"/>
          <p:cNvSpPr txBox="true"/>
          <p:nvPr/>
        </p:nvSpPr>
        <p:spPr>
          <a:xfrm rot="0">
            <a:off x="12145413" y="3606251"/>
            <a:ext cx="3492398" cy="446037"/>
          </a:xfrm>
          <a:prstGeom prst="rect">
            <a:avLst/>
          </a:prstGeom>
        </p:spPr>
        <p:txBody>
          <a:bodyPr anchor="t" rtlCol="false" tIns="0" lIns="0" bIns="0" rIns="0">
            <a:spAutoFit/>
          </a:bodyPr>
          <a:lstStyle/>
          <a:p>
            <a:pPr algn="l">
              <a:lnSpc>
                <a:spcPts val="3374"/>
              </a:lnSpc>
            </a:pPr>
            <a:r>
              <a:rPr lang="en-US" sz="2687">
                <a:solidFill>
                  <a:srgbClr val="49495A"/>
                </a:solidFill>
                <a:latin typeface="Libre Baskerville"/>
                <a:ea typeface="Libre Baskerville"/>
                <a:cs typeface="Libre Baskerville"/>
                <a:sym typeface="Libre Baskerville"/>
              </a:rPr>
              <a:t>Strategic HR</a:t>
            </a:r>
          </a:p>
        </p:txBody>
      </p:sp>
      <p:sp>
        <p:nvSpPr>
          <p:cNvPr name="TextBox 18" id="18"/>
          <p:cNvSpPr txBox="true"/>
          <p:nvPr/>
        </p:nvSpPr>
        <p:spPr>
          <a:xfrm rot="0">
            <a:off x="12145413" y="4141146"/>
            <a:ext cx="4885430" cy="963511"/>
          </a:xfrm>
          <a:prstGeom prst="rect">
            <a:avLst/>
          </a:prstGeom>
        </p:spPr>
        <p:txBody>
          <a:bodyPr anchor="t" rtlCol="false" tIns="0" lIns="0" bIns="0" rIns="0">
            <a:spAutoFit/>
          </a:bodyPr>
          <a:lstStyle/>
          <a:p>
            <a:pPr algn="l">
              <a:lnSpc>
                <a:spcPts val="3437"/>
              </a:lnSpc>
            </a:pPr>
            <a:r>
              <a:rPr lang="en-US" sz="2187">
                <a:solidFill>
                  <a:srgbClr val="49495A"/>
                </a:solidFill>
                <a:latin typeface="Open Sans"/>
                <a:ea typeface="Open Sans"/>
                <a:cs typeface="Open Sans"/>
                <a:sym typeface="Open Sans"/>
              </a:rPr>
              <a:t>Transparency builds trust in AI-assisted decision-making</a:t>
            </a:r>
          </a:p>
        </p:txBody>
      </p:sp>
      <p:grpSp>
        <p:nvGrpSpPr>
          <p:cNvPr name="Group 19" id="19"/>
          <p:cNvGrpSpPr/>
          <p:nvPr/>
        </p:nvGrpSpPr>
        <p:grpSpPr>
          <a:xfrm rot="0">
            <a:off x="977798" y="6277023"/>
            <a:ext cx="16332403" cy="44348"/>
            <a:chOff x="0" y="0"/>
            <a:chExt cx="21776538" cy="59131"/>
          </a:xfrm>
        </p:grpSpPr>
        <p:sp>
          <p:nvSpPr>
            <p:cNvPr name="Freeform 20" id="20"/>
            <p:cNvSpPr/>
            <p:nvPr/>
          </p:nvSpPr>
          <p:spPr>
            <a:xfrm flipH="false" flipV="false" rot="0">
              <a:off x="0" y="0"/>
              <a:ext cx="21776562" cy="59182"/>
            </a:xfrm>
            <a:custGeom>
              <a:avLst/>
              <a:gdLst/>
              <a:ahLst/>
              <a:cxnLst/>
              <a:rect r="r" b="b" t="t" l="l"/>
              <a:pathLst>
                <a:path h="59182" w="21776562">
                  <a:moveTo>
                    <a:pt x="0" y="0"/>
                  </a:moveTo>
                  <a:lnTo>
                    <a:pt x="21776562" y="0"/>
                  </a:lnTo>
                  <a:lnTo>
                    <a:pt x="21776562" y="59182"/>
                  </a:lnTo>
                  <a:lnTo>
                    <a:pt x="0" y="59182"/>
                  </a:lnTo>
                  <a:close/>
                </a:path>
              </a:pathLst>
            </a:custGeom>
            <a:solidFill>
              <a:srgbClr val="49495A">
                <a:alpha val="24706"/>
              </a:srgbClr>
            </a:solidFill>
          </p:spPr>
        </p:sp>
      </p:grpSp>
      <p:sp>
        <p:nvSpPr>
          <p:cNvPr name="TextBox 21" id="21"/>
          <p:cNvSpPr txBox="true"/>
          <p:nvPr/>
        </p:nvSpPr>
        <p:spPr>
          <a:xfrm rot="0">
            <a:off x="977798" y="6715125"/>
            <a:ext cx="4190848" cy="542925"/>
          </a:xfrm>
          <a:prstGeom prst="rect">
            <a:avLst/>
          </a:prstGeom>
        </p:spPr>
        <p:txBody>
          <a:bodyPr anchor="t" rtlCol="false" tIns="0" lIns="0" bIns="0" rIns="0">
            <a:spAutoFit/>
          </a:bodyPr>
          <a:lstStyle/>
          <a:p>
            <a:pPr algn="l">
              <a:lnSpc>
                <a:spcPts val="4062"/>
              </a:lnSpc>
            </a:pPr>
            <a:r>
              <a:rPr lang="en-US" sz="3250">
                <a:solidFill>
                  <a:srgbClr val="403CCF"/>
                </a:solidFill>
                <a:latin typeface="Libre Baskerville"/>
                <a:ea typeface="Libre Baskerville"/>
                <a:cs typeface="Libre Baskerville"/>
                <a:sym typeface="Libre Baskerville"/>
              </a:rPr>
              <a:t>Pilot Programme</a:t>
            </a:r>
          </a:p>
        </p:txBody>
      </p:sp>
      <p:sp>
        <p:nvSpPr>
          <p:cNvPr name="TextBox 22" id="22"/>
          <p:cNvSpPr txBox="true"/>
          <p:nvPr/>
        </p:nvSpPr>
        <p:spPr>
          <a:xfrm rot="0">
            <a:off x="977798" y="7594702"/>
            <a:ext cx="16332403" cy="401638"/>
          </a:xfrm>
          <a:prstGeom prst="rect">
            <a:avLst/>
          </a:prstGeom>
        </p:spPr>
        <p:txBody>
          <a:bodyPr anchor="t" rtlCol="false" tIns="0" lIns="0" bIns="0" rIns="0">
            <a:spAutoFit/>
          </a:bodyPr>
          <a:lstStyle/>
          <a:p>
            <a:pPr algn="l">
              <a:lnSpc>
                <a:spcPts val="3437"/>
              </a:lnSpc>
            </a:pPr>
            <a:r>
              <a:rPr lang="en-US" sz="2187">
                <a:solidFill>
                  <a:srgbClr val="49495A"/>
                </a:solidFill>
                <a:latin typeface="Open Sans"/>
                <a:ea typeface="Open Sans"/>
                <a:cs typeface="Open Sans"/>
                <a:sym typeface="Open Sans"/>
              </a:rPr>
              <a:t>Launch in highest-turnover departments to validate predictive accuracy and measure retention impact over six months.</a:t>
            </a:r>
          </a:p>
        </p:txBody>
      </p:sp>
      <p:grpSp>
        <p:nvGrpSpPr>
          <p:cNvPr name="Group 23" id="23"/>
          <p:cNvGrpSpPr/>
          <p:nvPr/>
        </p:nvGrpSpPr>
        <p:grpSpPr>
          <a:xfrm rot="0">
            <a:off x="977798" y="8424272"/>
            <a:ext cx="38100" cy="1063076"/>
            <a:chOff x="0" y="0"/>
            <a:chExt cx="50800" cy="1417434"/>
          </a:xfrm>
        </p:grpSpPr>
        <p:sp>
          <p:nvSpPr>
            <p:cNvPr name="Freeform 24" id="24"/>
            <p:cNvSpPr/>
            <p:nvPr/>
          </p:nvSpPr>
          <p:spPr>
            <a:xfrm flipH="false" flipV="false" rot="0">
              <a:off x="0" y="0"/>
              <a:ext cx="50800" cy="1417447"/>
            </a:xfrm>
            <a:custGeom>
              <a:avLst/>
              <a:gdLst/>
              <a:ahLst/>
              <a:cxnLst/>
              <a:rect r="r" b="b" t="t" l="l"/>
              <a:pathLst>
                <a:path h="1417447" w="50800">
                  <a:moveTo>
                    <a:pt x="0" y="0"/>
                  </a:moveTo>
                  <a:lnTo>
                    <a:pt x="50800" y="0"/>
                  </a:lnTo>
                  <a:lnTo>
                    <a:pt x="50800" y="1417447"/>
                  </a:lnTo>
                  <a:lnTo>
                    <a:pt x="0" y="1417447"/>
                  </a:lnTo>
                  <a:close/>
                </a:path>
              </a:pathLst>
            </a:custGeom>
            <a:solidFill>
              <a:srgbClr val="403CCF"/>
            </a:solid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DAHEHWze2Vc</dc:identifier>
  <dcterms:modified xsi:type="dcterms:W3CDTF">2011-08-01T06:04:30Z</dcterms:modified>
  <cp:revision>1</cp:revision>
  <dc:title>HR-Guardian-AI.pptx</dc:title>
</cp:coreProperties>
</file>